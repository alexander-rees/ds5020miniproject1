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a55109c102c3412b" /><Relationship Type="http://schemas.openxmlformats.org/officeDocument/2006/relationships/extended-properties" Target="/docProps/app.xml" Id="R750f19f233ed41c5" /><Relationship Type="http://schemas.openxmlformats.org/officeDocument/2006/relationships/officeDocument" Target="/ppt/presentation.xml" Id="Rd5d099ca5a864af5" /></Relationships>
</file>

<file path=ppt/presentation.xml><?xml version="1.0" encoding="utf-8"?>
<p:presentation xmlns:p="http://schemas.openxmlformats.org/presentationml/2006/main">
  <p:sldMasterIdLst>
    <p:sldMasterId xmlns:r="http://schemas.openxmlformats.org/officeDocument/2006/relationships" id="2147483648" r:id="R045be6a914b445e2"/>
  </p:sldMasterIdLst>
  <p:notesMasterIdLst>
    <p:notesMasterId xmlns:r="http://schemas.openxmlformats.org/officeDocument/2006/relationships" r:id="Rf0f37d05fc034042"/>
  </p:notesMasterIdLst>
  <p:sldIdLst>
    <p:sldId xmlns:r="http://schemas.openxmlformats.org/officeDocument/2006/relationships" id="256" r:id="R69706b285d764ae5"/>
    <p:sldId xmlns:r="http://schemas.openxmlformats.org/officeDocument/2006/relationships" id="257" r:id="Re774198934b743bb"/>
    <p:sldId xmlns:r="http://schemas.openxmlformats.org/officeDocument/2006/relationships" id="258" r:id="R091b329159d14ca1"/>
    <p:sldId xmlns:r="http://schemas.openxmlformats.org/officeDocument/2006/relationships" id="259" r:id="R40e2d94844db41b8"/>
    <p:sldId xmlns:r="http://schemas.openxmlformats.org/officeDocument/2006/relationships" id="260" r:id="R441fcc48916a47d0"/>
    <p:sldId xmlns:r="http://schemas.openxmlformats.org/officeDocument/2006/relationships" id="261" r:id="R85667f2fe3f64d4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9bc5a3e092a4865" /><Relationship Type="http://schemas.openxmlformats.org/officeDocument/2006/relationships/slideMaster" Target="/ppt/slideMasters/slideMaster1.xml" Id="R045be6a914b445e2" /><Relationship Type="http://schemas.openxmlformats.org/officeDocument/2006/relationships/notesMaster" Target="/ppt/notesMasters/notesMaster1.xml" Id="Rf0f37d05fc034042" /><Relationship Type="http://schemas.openxmlformats.org/officeDocument/2006/relationships/presProps" Target="/ppt/presProps.xml" Id="R0575da0dfbad42a6" /><Relationship Type="http://schemas.openxmlformats.org/officeDocument/2006/relationships/tableStyles" Target="/ppt/tableStyles.xml" Id="R7b7074ba760c45b1" /><Relationship Type="http://schemas.openxmlformats.org/officeDocument/2006/relationships/slide" Target="/ppt/slides/slide1.xml" Id="R69706b285d764ae5" /><Relationship Type="http://schemas.openxmlformats.org/officeDocument/2006/relationships/slide" Target="/ppt/slides/slide2.xml" Id="Re774198934b743bb" /><Relationship Type="http://schemas.openxmlformats.org/officeDocument/2006/relationships/slide" Target="/ppt/slides/slide3.xml" Id="R091b329159d14ca1" /><Relationship Type="http://schemas.openxmlformats.org/officeDocument/2006/relationships/slide" Target="/ppt/slides/slide4.xml" Id="R40e2d94844db41b8" /><Relationship Type="http://schemas.openxmlformats.org/officeDocument/2006/relationships/slide" Target="/ppt/slides/slide5.xml" Id="R441fcc48916a47d0" /><Relationship Type="http://schemas.openxmlformats.org/officeDocument/2006/relationships/slide" Target="/ppt/slides/slide6.xml" Id="R85667f2fe3f64d4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016bbc0753f40c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3d5116ce4f841e6" /><Relationship Type="http://schemas.openxmlformats.org/officeDocument/2006/relationships/notesMaster" Target="/ppt/notesMasters/notesMaster1.xml" Id="R8d209cce34cd4d14" /></Relationships>
</file>

<file path=ppt/notesSlides/_rels/notesSlide2.xml.rels>&#65279;<?xml version="1.0" encoding="utf-8"?><Relationships xmlns="http://schemas.openxmlformats.org/package/2006/relationships"><Relationship Type="http://schemas.openxmlformats.org/officeDocument/2006/relationships/slide" Target="/ppt/slides/slide2.xml" Id="R27015d3acfaa4b49" /><Relationship Type="http://schemas.openxmlformats.org/officeDocument/2006/relationships/notesMaster" Target="/ppt/notesMasters/notesMaster1.xml" Id="R48ea7b41209b4ab4" /></Relationships>
</file>

<file path=ppt/notesSlides/_rels/notesSlide3.xml.rels>&#65279;<?xml version="1.0" encoding="utf-8"?><Relationships xmlns="http://schemas.openxmlformats.org/package/2006/relationships"><Relationship Type="http://schemas.openxmlformats.org/officeDocument/2006/relationships/slide" Target="/ppt/slides/slide3.xml" Id="R3625fdb670b04a4a" /><Relationship Type="http://schemas.openxmlformats.org/officeDocument/2006/relationships/notesMaster" Target="/ppt/notesMasters/notesMaster1.xml" Id="R7d25c149577c4534" /></Relationships>
</file>

<file path=ppt/notesSlides/_rels/notesSlide4.xml.rels>&#65279;<?xml version="1.0" encoding="utf-8"?><Relationships xmlns="http://schemas.openxmlformats.org/package/2006/relationships"><Relationship Type="http://schemas.openxmlformats.org/officeDocument/2006/relationships/slide" Target="/ppt/slides/slide4.xml" Id="R623a8d6bc73c4e00" /><Relationship Type="http://schemas.openxmlformats.org/officeDocument/2006/relationships/notesMaster" Target="/ppt/notesMasters/notesMaster1.xml" Id="R036778f7c94f403b" /></Relationships>
</file>

<file path=ppt/notesSlides/_rels/notesSlide5.xml.rels>&#65279;<?xml version="1.0" encoding="utf-8"?><Relationships xmlns="http://schemas.openxmlformats.org/package/2006/relationships"><Relationship Type="http://schemas.openxmlformats.org/officeDocument/2006/relationships/slide" Target="/ppt/slides/slide5.xml" Id="R49c65ac726854b3b" /><Relationship Type="http://schemas.openxmlformats.org/officeDocument/2006/relationships/notesMaster" Target="/ppt/notesMasters/notesMaster1.xml" Id="R588545068b974cc8" /></Relationships>
</file>

<file path=ppt/notesSlides/_rels/notesSlide6.xml.rels>&#65279;<?xml version="1.0" encoding="utf-8"?><Relationships xmlns="http://schemas.openxmlformats.org/package/2006/relationships"><Relationship Type="http://schemas.openxmlformats.org/officeDocument/2006/relationships/slide" Target="/ppt/slides/slide6.xml" Id="R4a669a1e7c1d4592" /><Relationship Type="http://schemas.openxmlformats.org/officeDocument/2006/relationships/notesMaster" Target="/ppt/notesMasters/notesMaster1.xml" Id="R5b6a71e32e34409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Alex Rees, Data Engineer. Time: 20 seconds.</a:t>
            </a:r>
          </a:p>
          <a:p xmlns:a="http://schemas.openxmlformats.org/drawingml/2006/main">
            <a:r>
              <a:t>Sarah Okafor, our Head of E-Commerce, asked for two things: an also-bought box on product pages, refreshed overnight and better than best sellers, and one simple picture of our customer groups for marketing. We cover the data, the model, the groups and the risks.</a:t>
            </a:r>
          </a:p>
          <a:p xmlns:a="http://schemas.openxmlformats.org/drawingml/2006/main">
            <a:r>
              <a:t>Source: Chen, D. (2012). Online Retail II [Dataset]. UCI Machine Learning Repository. https://doi.org/10.24432/C5CG6D. Licence CC BY 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Alex Rees, Data Engineer. Time: 70 seconds.</a:t>
            </a:r>
          </a:p>
          <a:p xmlns:a="http://schemas.openxmlformats.org/drawingml/2006/main">
            <a:r>
              <a:t>Our data is the UCI Online Retail II log, 1,067,371 invoice lines from December 2009 to December 2011. I removed cancellations, non-positive quantities and prices, non-product codes and lines without a customer ID, leaving 802,634.</a:t>
            </a:r>
          </a:p>
          <a:p xmlns:a="http://schemas.openxmlformats.org/drawingml/2006/main">
            <a:r>
              <a:t>The test is the last two months, from 9 Oct 2011. Targets are products new to that customer: 72,919 invoice lines, with 45,644 repeat-purchase lines left out. The 684,071 earlier lines are training data.</a:t>
            </a:r>
          </a:p>
          <a:p xmlns:a="http://schemas.openxmlformats.org/drawingml/2006/main">
            <a:r>
              <a:t>The matrix uses training lines only: log of one plus total quantity, and products with at least 10 training buyers. That gives 5,473 customers by 3,687 products, 97.9% empty. Coverage on the right counts customers, distinct products and new pairs separately.</a:t>
            </a:r>
          </a:p>
          <a:p xmlns:a="http://schemas.openxmlformats.org/drawingml/2006/main">
            <a:r>
              <a:t>I built the original cleaning, split, matrix and first exploratory SVD. The completed package reruns these steps from the raw file with python build_matrix.py.</a:t>
            </a:r>
          </a:p>
          <a:p xmlns:a="http://schemas.openxmlformats.org/drawingml/2006/main">
            <a:r>
              <a:t>Source: Chen, D. (2012). Online Retail II [Dataset]. UCI Machine Learning Repository. https://doi.org/10.24432/C5CG6D. Licence CC BY 4.0.</a:t>
            </a:r>
          </a:p>
          <a:p xmlns:a="http://schemas.openxmlformats.org/drawingml/2006/main">
            <a:r>
              <a:t>Source: reports/cleaning_log.csv, reports/split_log.csv, reports/matrix_report.json.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Jiaxiao Chen, ML Engineer. Time: 55 seconds.</a:t>
            </a:r>
          </a:p>
          <a:p xmlns:a="http://schemas.openxmlformats.org/drawingml/2006/main">
            <a:r>
              <a:t>I chose Truncated SVD because it works on the sparse matrix directly. The chart shows relative reconstruction error on training data: the Frobenius norm of the matrix minus its rank-k approximation, divided by the norm of the matrix. It describes how roughly we approximate the log-transformed purchase patterns, not a share of purchases kept. It falls from 87.6% at 10 components to 72.7% at 100.</a:t>
            </a:r>
          </a:p>
          <a:p xmlns:a="http://schemas.openxmlformats.org/drawingml/2006/main">
            <a:r>
              <a:t>k = 100 came from Alex's original exploratory training curve and was fixed before any test result. It keeps the factors under our 10 MB target: 7.33 MB, 22 times less than the dense table, but more than the 4.99 MB sparse matrix storage.</a:t>
            </a:r>
          </a:p>
          <a:p xmlns:a="http://schemas.openxmlformats.org/drawingml/2006/main">
            <a:r>
              <a:t>Source: reports/svd_curve.csv, reports/results.json (matrix and svd sections).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Jiaxiao Chen, ML Engineer. Time: 70 seconds.</a:t>
            </a:r>
          </a:p>
          <a:p xmlns:a="http://schemas.openxmlformats.org/drawingml/2006/main">
            <a:r>
              <a:t>I ran PCA on the same matrix with the same 100 components and seed. It centres implicitly, so it describes differences from the average customer.</a:t>
            </a:r>
          </a:p>
          <a:p xmlns:a="http://schemas.openxmlformats.org/drawingml/2006/main">
            <a:r>
              <a:t>All hit rates use the same 1,913 customers. A hit means at least one product they had never bought before is in their top 10, excluding what they already bought. SVD scored 23.2%, PCA 22.9% and best sellers 17.4%. SVD beat best sellers by 5.8 points, paired 95% interval 3.4 to 8.3. SVD and PCA are 0.3 points apart and the interval includes zero, so this test does not establish a difference.</a:t>
            </a:r>
          </a:p>
          <a:p xmlns:a="http://schemas.openxmlformats.org/drawingml/2006/main">
            <a:r>
              <a:t>Fit time is the median of five single-thread runs. Peak memory covers a whole fresh process, sampled every millisecond. PCA's size includes its mean vector.</a:t>
            </a:r>
          </a:p>
          <a:p xmlns:a="http://schemas.openxmlformats.org/drawingml/2006/main">
            <a:r>
              <a:t>In both, component one means overall buying volume, correlation 0.69 and 0.68 with log total quantity.</a:t>
            </a:r>
          </a:p>
          <a:p xmlns:a="http://schemas.openxmlformats.org/drawingml/2006/main">
            <a:r>
              <a:t>Source: reports/comparison.csv, reports/results.json. Timings measured on an Apple M4 Mac (10 logical CPUs).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Jiaxiao Chen, ML Engineer. Time: 50 seconds.</a:t>
            </a:r>
          </a:p>
          <a:p xmlns:a="http://schemas.openxmlformats.org/drawingml/2006/main">
            <a:r>
              <a:t>The map plots each customer's size, the log10 distance from the origin on components one and two, against mix, the angle between them in degrees. All 5,473 customers are visible. k-means grouped customers on these two values, standardised, into four groups, seed 42, 20 restarts. Training data only, and only two of the 100 components. Component one tracks buying volume, so size partly reflects order size.</a:t>
            </a:r>
          </a:p>
          <a:p xmlns:a="http://schemas.openxmlformats.org/drawingml/2006/main">
            <a:r>
              <a:t>Names come from each group's common and distinctive products, with one example each on the right. All groups are mainly UK-based, 85.5% to 97.7% of customers, and some have a larger overseas share. Marketing should test them.</a:t>
            </a:r>
          </a:p>
          <a:p xmlns:a="http://schemas.openxmlformats.org/drawingml/2006/main">
            <a:r>
              <a:t>Source: reports/segments.csv, reports/segment_profiles.json, figures/customer_map.png.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Jiaxiao Chen, ML Engineer. Time: 35 seconds.</a:t>
            </a:r>
          </a:p>
          <a:p xmlns:a="http://schemas.openxmlformats.org/drawingml/2006/main">
            <a:r>
              <a:t>We recommend a pilot: SVD beat best sellers, 23.2% against 17.4%. From the prepared purchase table, the fit and all-product neighbour lists took 0.707 s; raw-data cleaning is extra. By purchase value: raw count 12.9%, 1/0 24.9% and log 23.2%. 1/0 scored slightly higher, but log was fixed before testing, so we kept it.</a:t>
            </a:r>
          </a:p>
          <a:p xmlns:a="http://schemas.openxmlformats.org/drawingml/2006/main">
            <a:r>
              <a:t>Product pages can serve new customers; personalised lists need history, and new products need best sellers. Alex would own the data refresh, and I the refit and coverage checks.</a:t>
            </a:r>
          </a:p>
          <a:p xmlns:a="http://schemas.openxmlformats.org/drawingml/2006/main">
            <a:r>
              <a:t>Source: reports/results.json (nightly and sensitivity sections), reports/sensitivity.csv.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a9e8990df75434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36959350525414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047ed7424db493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3dc7eeb95b7464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b915575b9e94dc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cae518e052a485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8228C6E-00E8-41B7-99A3-CB59965E230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E3446D9-68FF-402C-94B5-9C97DA1BCCE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867276E-B57D-48C6-9514-A4B695B201C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B4FDD1E-2DAE-45B0-ABDD-02DA334C17F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E0D2502-5302-4B7B-9674-527D16A4F96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CB25936-E6BC-40C4-9A2B-7BA19F142DC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3878ABD-5AEB-44AE-A7FB-5CE73CEA9A5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EB93596-CC7A-4AB2-AE5C-295E01A77CC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19BB00A-338B-4551-AA2D-F0036771D14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04C76F0-8B5E-424A-98E0-2447A547A60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ee1f680567149ca" /><Relationship Type="http://schemas.openxmlformats.org/officeDocument/2006/relationships/slideLayout" Target="/ppt/slideLayouts/slideLayout1.xml" Id="R9cdb6b5c12a347e1" /><Relationship Type="http://schemas.openxmlformats.org/officeDocument/2006/relationships/slideLayout" Target="/ppt/slideLayouts/slideLayout2.xml" Id="R426198040db64970" /><Relationship Type="http://schemas.openxmlformats.org/officeDocument/2006/relationships/slideLayout" Target="/ppt/slideLayouts/slideLayout3.xml" Id="Rfca203c6a7e44c3b" /><Relationship Type="http://schemas.openxmlformats.org/officeDocument/2006/relationships/slideLayout" Target="/ppt/slideLayouts/slideLayout4.xml" Id="Rb013e3cd63e841e7" /><Relationship Type="http://schemas.openxmlformats.org/officeDocument/2006/relationships/slideLayout" Target="/ppt/slideLayouts/slideLayout5.xml" Id="Ra514fa1a75c74e98" /><Relationship Type="http://schemas.openxmlformats.org/officeDocument/2006/relationships/slideLayout" Target="/ppt/slideLayouts/slideLayout6.xml" Id="R2f2c153b5214421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cdb6b5c12a347e1"/>
    <p:sldLayoutId xmlns:r="http://schemas.openxmlformats.org/officeDocument/2006/relationships" id="2147483650" r:id="R426198040db64970"/>
    <p:sldLayoutId xmlns:r="http://schemas.openxmlformats.org/officeDocument/2006/relationships" id="2147483651" r:id="Rfca203c6a7e44c3b"/>
    <p:sldLayoutId xmlns:r="http://schemas.openxmlformats.org/officeDocument/2006/relationships" id="2147483652" r:id="Rb013e3cd63e841e7"/>
    <p:sldLayoutId xmlns:r="http://schemas.openxmlformats.org/officeDocument/2006/relationships" id="2147483653" r:id="Ra514fa1a75c74e98"/>
    <p:sldLayoutId xmlns:r="http://schemas.openxmlformats.org/officeDocument/2006/relationships" id="2147483654" r:id="R2f2c153b5214421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dc944109da549d8" /><Relationship Type="http://schemas.openxmlformats.org/officeDocument/2006/relationships/notesSlide" Target="/ppt/notesSlides/notesSlide1.xml" Id="R155e44321ec64bc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d5b14689d8b4ee8" /><Relationship Type="http://schemas.openxmlformats.org/officeDocument/2006/relationships/notesSlide" Target="/ppt/notesSlides/notesSlide2.xml" Id="Rf2d27ef81c034c2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e1228aa7f7f4b0f" /><Relationship Type="http://schemas.openxmlformats.org/officeDocument/2006/relationships/chart" Target="/ppt/slides/charts/chart1.xml" Id="Ra5e0dd491fb04390" /><Relationship Type="http://schemas.openxmlformats.org/officeDocument/2006/relationships/notesSlide" Target="/ppt/notesSlides/notesSlide3.xml" Id="R06476011cf1e423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16ad6ed115f4b6c" /><Relationship Type="http://schemas.openxmlformats.org/officeDocument/2006/relationships/notesSlide" Target="/ppt/notesSlides/notesSlide4.xml" Id="R2a6076f70ee84db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155a5ee815a4337" /><Relationship Type="http://schemas.openxmlformats.org/officeDocument/2006/relationships/image" Target="/ppt/media/image.png" Id="R19f3b6a8803e434d" /><Relationship Type="http://schemas.openxmlformats.org/officeDocument/2006/relationships/notesSlide" Target="/ppt/notesSlides/notesSlide5.xml" Id="Re6ebd4d1a5c945a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aff77763c174e9a" /><Relationship Type="http://schemas.openxmlformats.org/officeDocument/2006/relationships/notesSlide" Target="/ppt/notesSlides/notesSlide6.xml" Id="R8ba1bdaef0e14049"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Relative reconstruction error</c:v>
          </c:tx>
          <c:spPr>
            <a:ln xmlns:a="http://schemas.openxmlformats.org/drawingml/2006/main" w="28575">
              <a:solidFill>
                <a:srgbClr val="0F7C80"/>
              </a:solidFill>
              <a:prstDash val="solid"/>
            </a:ln>
          </c:spPr>
          <c:marker>
            <c:symbol val="circle"/>
            <c:size val="9"/>
            <c:spPr>
              <a:solidFill xmlns:a="http://schemas.openxmlformats.org/drawingml/2006/main">
                <a:srgbClr val="0F7C80"/>
              </a:solidFill>
            </c:spPr>
          </c:marker>
          <c:dPt>
            <c:idx val="3"/>
            <c:spPr>
              <a:solidFill xmlns:a="http://schemas.openxmlformats.org/drawingml/2006/main">
                <a:srgbClr val="1B2A4A"/>
              </a:solidFill>
            </c:spPr>
          </c:dPt>
          <c:cat>
            <c:numRef>
              <c:f>'Chart Data'!$A$2:$A$6</c:f>
              <c:numCache>
                <c:formatCode>General</c:formatCode>
                <c:ptCount val="5"/>
                <c:pt idx="0">
                  <c:v>10</c:v>
                </c:pt>
                <c:pt idx="1">
                  <c:v>20</c:v>
                </c:pt>
                <c:pt idx="2">
                  <c:v>50</c:v>
                </c:pt>
                <c:pt idx="3">
                  <c:v>100</c:v>
                </c:pt>
                <c:pt idx="4">
                  <c:v>200</c:v>
                </c:pt>
              </c:numCache>
            </c:numRef>
          </c:cat>
          <c:val>
            <c:numRef>
              <c:f>'Chart Data'!$B$2:$B$6</c:f>
              <c:numCache>
                <c:formatCode>0%</c:formatCode>
                <c:ptCount val="5"/>
                <c:pt idx="0">
                  <c:v>0.87608315455403</c:v>
                </c:pt>
                <c:pt idx="1">
                  <c:v>0.845829129272435</c:v>
                </c:pt>
                <c:pt idx="2">
                  <c:v>0.789211139933376</c:v>
                </c:pt>
                <c:pt idx="3">
                  <c:v>0.726758588220192</c:v>
                </c:pt>
                <c:pt idx="4">
                  <c:v>0.637887686990484</c:v>
                </c:pt>
              </c:numCache>
            </c:numRef>
          </c:val>
          <c:smooth val="0"/>
        </c:ser>
        <c:dLbls>
          <c:numFmt formatCode="0.0%" sourceLinked="0"/>
          <c:txPr>
            <a:bodyPr xmlns:a="http://schemas.openxmlformats.org/drawingml/2006/main" anchorCtr="1"/>
            <a:lstStyle xmlns:a="http://schemas.openxmlformats.org/drawingml/2006/main"/>
            <a:p xmlns:a="http://schemas.openxmlformats.org/drawingml/2006/main">
              <a:pPr>
                <a:defRPr sz="1350" b="1">
                  <a:solidFill>
                    <a:srgbClr val="1F2937"/>
                  </a:solidFill>
                  <a:latin typeface="Helvetica Neue"/>
                  <a:ea typeface="Helvetica Neue"/>
                  <a:cs typeface="Helvetica Neue"/>
                </a:defRPr>
              </a:pPr>
            </a:p>
          </c:txPr>
          <c:showLegendKey val="0"/>
          <c:showVal val="1"/>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350">
                    <a:solidFill>
                      <a:srgbClr val="4B5563"/>
                    </a:solidFill>
                    <a:latin typeface="Helvetica Neue"/>
                    <a:ea typeface="Helvetica Neue"/>
                    <a:cs typeface="Helvetica Neue"/>
                  </a:rPr>
                  <a:t>Components kept (k)</a:t>
                </a:r>
              </a:p>
            </c:rich>
          </c:tx>
          <c:overlay val="0"/>
          <c:txPr>
            <a:bodyPr xmlns:a="http://schemas.openxmlformats.org/drawingml/2006/main" anchorCtr="1"/>
            <a:lstStyle xmlns:a="http://schemas.openxmlformats.org/drawingml/2006/main"/>
            <a:p xmlns:a="http://schemas.openxmlformats.org/drawingml/2006/main">
              <a:pPr>
                <a:defRPr sz="1350">
                  <a:solidFill>
                    <a:srgbClr val="4B5563"/>
                  </a:solidFill>
                  <a:latin typeface="Helvetica Neue"/>
                  <a:ea typeface="Helvetica Neue"/>
                  <a:cs typeface="Helvetica Neue"/>
                </a:defRPr>
              </a:pPr>
            </a:p>
          </c:txPr>
        </c:title>
        <c:numFmt formatCode="General"/>
        <c:majorTickMark val="none"/>
        <c:minorTickMark val="none"/>
        <c:spPr>
          <a:ln xmlns:a="http://schemas.openxmlformats.org/drawingml/2006/main" w="9525">
            <a:solidFill>
              <a:srgbClr val="D1D5DB"/>
            </a:solidFill>
            <a:prstDash val="solid"/>
          </a:ln>
        </c:spPr>
        <c:txPr>
          <a:bodyPr xmlns:a="http://schemas.openxmlformats.org/drawingml/2006/main" anchorCtr="1"/>
          <a:lstStyle xmlns:a="http://schemas.openxmlformats.org/drawingml/2006/main"/>
          <a:p xmlns:a="http://schemas.openxmlformats.org/drawingml/2006/main">
            <a:pPr>
              <a:defRPr sz="1350">
                <a:solidFill>
                  <a:srgbClr val="1F2937"/>
                </a:solidFill>
                <a:latin typeface="Helvetica Neue"/>
                <a:ea typeface="Helvetica Neue"/>
                <a:cs typeface="Helvetica Neue"/>
              </a:defRPr>
            </a:pPr>
          </a:p>
        </c:txPr>
        <c:crossAx val="48672768"/>
      </c:catAx>
      <c:valAx>
        <c:axId val="48672768"/>
        <c:scaling>
          <c:orientation val="minMax"/>
          <c:max val="1"/>
          <c:min val="0"/>
        </c:scaling>
        <c:delete val="0"/>
        <c:axPos val="l"/>
        <c:majorGridlines>
          <c:spPr>
            <a:ln xmlns:a="http://schemas.openxmlformats.org/drawingml/2006/main" w="9525">
              <a:solidFill>
                <a:srgbClr val="E5E7EB"/>
              </a:solidFill>
              <a:prstDash val="solid"/>
            </a:ln>
          </c:spPr>
        </c:majorGridlines>
        <c:title>
          <c:tx>
            <c:rich>
              <a:bodyPr xmlns:a="http://schemas.openxmlformats.org/drawingml/2006/main"/>
              <a:lstStyle xmlns:a="http://schemas.openxmlformats.org/drawingml/2006/main"/>
              <a:p xmlns:a="http://schemas.openxmlformats.org/drawingml/2006/main">
                <a:r>
                  <a:rPr sz="1350">
                    <a:solidFill>
                      <a:srgbClr val="4B5563"/>
                    </a:solidFill>
                    <a:latin typeface="Helvetica Neue"/>
                    <a:ea typeface="Helvetica Neue"/>
                    <a:cs typeface="Helvetica Neue"/>
                  </a:rPr>
                  <a:t>Relative reconstruction error</a:t>
                </a:r>
              </a:p>
            </c:rich>
          </c:tx>
          <c:overlay val="0"/>
          <c:txPr>
            <a:bodyPr xmlns:a="http://schemas.openxmlformats.org/drawingml/2006/main" anchorCtr="1"/>
            <a:lstStyle xmlns:a="http://schemas.openxmlformats.org/drawingml/2006/main"/>
            <a:p xmlns:a="http://schemas.openxmlformats.org/drawingml/2006/main">
              <a:pPr>
                <a:defRPr sz="1350">
                  <a:solidFill>
                    <a:srgbClr val="4B5563"/>
                  </a:solidFill>
                  <a:latin typeface="Helvetica Neue"/>
                  <a:ea typeface="Helvetica Neue"/>
                  <a:cs typeface="Helvetica Neue"/>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1F2937"/>
                </a:solidFill>
                <a:latin typeface="Helvetica Neue"/>
                <a:ea typeface="Helvetica Neue"/>
                <a:cs typeface="Helvetica Neue"/>
              </a:defRPr>
            </a:pPr>
          </a:p>
        </c:txPr>
        <c:crossAx val="48650112"/>
        <c:crossBetween val="between"/>
        <c:majorUnit val="0.25"/>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B2A4A"/>
        </a:solidFill>
      </p:bgPr>
    </p:bg>
    <p:spTree>
      <p:nvGrpSpPr>
        <p:cNvPr id="1" name=""/>
        <p:cNvGrpSpPr/>
        <p:nvPr/>
      </p:nvGrpSpPr>
      <p:grpSpPr>
        <a:xfrm xmlns:a="http://schemas.openxmlformats.org/drawingml/2006/main"/>
      </p:grpSpPr>
      <p:sp>
        <p:nvSpPr>
          <p:cNvPr id="4" name="cover-title">
            <a:extLst xmlns:a="http://schemas.openxmlformats.org/drawingml/2006/main">
              <a:ext uri="{FF2B5EF4-FFF2-40B4-BE49-F238E27FC236}">
                <a16:creationId xmlns:a16="http://schemas.microsoft.com/office/drawing/2014/main" id="{0A0F6DEA-8537-43F1-944B-5FB597076B24}"/>
              </a:ext>
            </a:extLst>
          </p:cNvPr>
          <p:cNvSpPr>
            <a:spLocks xmlns:a="http://schemas.openxmlformats.org/drawingml/2006/main" noGrp="1"/>
          </p:cNvSpPr>
          <p:nvPr/>
        </p:nvSpPr>
        <p:spPr>
          <a:xfrm xmlns:a="http://schemas.openxmlformats.org/drawingml/2006/main">
            <a:off x="914400" y="2381250"/>
            <a:ext cx="103632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a:latin typeface="Helvetica Neue"/>
                <a:ea typeface="Helvetica Neue"/>
                <a:cs typeface="Helvetica Neue"/>
              </a:defRPr>
            </a:defPPr>
          </a:lstStyle>
          <a:p xmlns:a="http://schemas.openxmlformats.org/drawingml/2006/main">
            <a:pPr algn="l">
              <a:spcAft>
                <a:spcPts val="0"/>
              </a:spcAft>
              <a:defRPr>
                <a:latin typeface="Helvetica Neue"/>
                <a:ea typeface="Helvetica Neue"/>
                <a:cs typeface="Helvetica Neue"/>
              </a:defRPr>
            </a:pPr>
            <a:r>
              <a:rPr sz="4800" b="1">
                <a:solidFill>
                  <a:srgbClr val="FFFFFF"/>
                </a:solidFill>
                <a:latin typeface="Helvetica Neue"/>
                <a:ea typeface="Helvetica Neue"/>
                <a:cs typeface="Helvetica Neue"/>
              </a:rPr>
              <a:t>Customers Like You</a:t>
            </a:r>
          </a:p>
        </p:txBody>
      </p:sp>
      <p:sp>
        <p:nvSpPr>
          <p:cNvPr id="2" name="cover-subtitle">
            <a:extLst xmlns:a="http://schemas.openxmlformats.org/drawingml/2006/main">
              <a:ext uri="{FF2B5EF4-FFF2-40B4-BE49-F238E27FC236}">
                <a16:creationId xmlns:a16="http://schemas.microsoft.com/office/drawing/2014/main" id="{63DCE430-636C-43C5-9BA1-A88449B4238B}"/>
              </a:ext>
            </a:extLst>
          </p:cNvPr>
          <p:cNvSpPr>
            <a:spLocks xmlns:a="http://schemas.openxmlformats.org/drawingml/2006/main" noGrp="1"/>
          </p:cNvSpPr>
          <p:nvPr/>
        </p:nvSpPr>
        <p:spPr>
          <a:xfrm xmlns:a="http://schemas.openxmlformats.org/drawingml/2006/main">
            <a:off x="914400" y="3333750"/>
            <a:ext cx="10363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a:latin typeface="Helvetica Neue"/>
                <a:ea typeface="Helvetica Neue"/>
                <a:cs typeface="Helvetica Neue"/>
              </a:defRPr>
            </a:defPPr>
          </a:lstStyle>
          <a:p xmlns:a="http://schemas.openxmlformats.org/drawingml/2006/main">
            <a:pPr algn="l">
              <a:spcAft>
                <a:spcPts val="0"/>
              </a:spcAft>
              <a:defRPr>
                <a:latin typeface="Helvetica Neue"/>
                <a:ea typeface="Helvetica Neue"/>
                <a:cs typeface="Helvetica Neue"/>
              </a:defRPr>
            </a:pPr>
            <a:r>
              <a:rPr sz="2250" b="0">
                <a:solidFill>
                  <a:srgbClr val="7FD1CF"/>
                </a:solidFill>
                <a:latin typeface="Helvetica Neue"/>
                <a:ea typeface="Helvetica Neue"/>
                <a:cs typeface="Helvetica Neue"/>
              </a:rPr>
              <a:t>Product recommendations and customer groups</a:t>
            </a:r>
          </a:p>
        </p:txBody>
      </p:sp>
      <p:sp>
        <p:nvSpPr>
          <p:cNvPr id="3" name="cover-course">
            <a:extLst xmlns:a="http://schemas.openxmlformats.org/drawingml/2006/main">
              <a:ext uri="{FF2B5EF4-FFF2-40B4-BE49-F238E27FC236}">
                <a16:creationId xmlns:a16="http://schemas.microsoft.com/office/drawing/2014/main" id="{276BC522-96D1-4204-ABE7-FBB87B1E4FE4}"/>
              </a:ext>
            </a:extLst>
          </p:cNvPr>
          <p:cNvSpPr>
            <a:spLocks xmlns:a="http://schemas.openxmlformats.org/drawingml/2006/main" noGrp="1"/>
          </p:cNvSpPr>
          <p:nvPr/>
        </p:nvSpPr>
        <p:spPr>
          <a:xfrm xmlns:a="http://schemas.openxmlformats.org/drawingml/2006/main">
            <a:off x="914400" y="4000500"/>
            <a:ext cx="10363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a:latin typeface="Helvetica Neue"/>
                <a:ea typeface="Helvetica Neue"/>
                <a:cs typeface="Helvetica Neue"/>
              </a:defRPr>
            </a:defPPr>
          </a:lstStyle>
          <a:p xmlns:a="http://schemas.openxmlformats.org/drawingml/2006/main">
            <a:pPr algn="l">
              <a:spcAft>
                <a:spcPts val="0"/>
              </a:spcAft>
              <a:defRPr>
                <a:latin typeface="Helvetica Neue"/>
                <a:ea typeface="Helvetica Neue"/>
                <a:cs typeface="Helvetica Neue"/>
              </a:defRPr>
            </a:pPr>
            <a:r>
              <a:rPr sz="1650" b="0">
                <a:solidFill>
                  <a:srgbClr val="FFFFFF"/>
                </a:solidFill>
                <a:latin typeface="Helvetica Neue"/>
                <a:ea typeface="Helvetica Neue"/>
                <a:cs typeface="Helvetica Neue"/>
              </a:rPr>
              <a:t>DS5020 Mini-Project 1</a:t>
            </a:r>
          </a:p>
        </p:txBody>
      </p:sp>
    </p:spTree>
    <p:extLst>
      <p:ext uri="{BB962C8B-B14F-4D97-AF65-F5344CB8AC3E}">
        <p14:creationId xmlns:p14="http://schemas.microsoft.com/office/powerpoint/2010/main" val="11646628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8DE56F83-C3DD-4335-A5D0-04B4E1133469}"/>
              </a:ext>
            </a:extLst>
          </p:cNvPr>
          <p:cNvSpPr>
            <a:spLocks xmlns:a="http://schemas.openxmlformats.org/drawingml/2006/main" noGrp="1"/>
          </p:cNvSpPr>
          <p:nvPr/>
        </p:nvSpPr>
        <p:spPr>
          <a:xfrm xmlns:a="http://schemas.openxmlformats.org/drawingml/2006/main">
            <a:off x="609600" y="3810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a:latin typeface="Helvetica Neue"/>
                <a:ea typeface="Helvetica Neue"/>
                <a:cs typeface="Helvetica Neue"/>
              </a:defRPr>
            </a:defPPr>
          </a:lstStyle>
          <a:p xmlns:a="http://schemas.openxmlformats.org/drawingml/2006/main">
            <a:pPr algn="l">
              <a:spcAft>
                <a:spcPts val="0"/>
              </a:spcAft>
              <a:defRPr>
                <a:latin typeface="Helvetica Neue"/>
                <a:ea typeface="Helvetica Neue"/>
                <a:cs typeface="Helvetica Neue"/>
              </a:defRPr>
            </a:pPr>
            <a:r>
              <a:rPr sz="3300" b="1">
                <a:solidFill>
                  <a:srgbClr val="1B2A4A"/>
                </a:solidFill>
                <a:latin typeface="Helvetica Neue"/>
                <a:ea typeface="Helvetica Neue"/>
                <a:cs typeface="Helvetica Neue"/>
              </a:rPr>
              <a:t>Training data and a novel-purchase test</a:t>
            </a:r>
          </a:p>
        </p:txBody>
      </p:sp>
      <p:sp>
        <p:nvSpPr>
          <p:cNvPr id="2" name="train-heading">
            <a:extLst xmlns:a="http://schemas.openxmlformats.org/drawingml/2006/main">
              <a:ext uri="{FF2B5EF4-FFF2-40B4-BE49-F238E27FC236}">
                <a16:creationId xmlns:a16="http://schemas.microsoft.com/office/drawing/2014/main" id="{B21294BB-38C1-43A3-A829-4D4CD9B6EB12}"/>
              </a:ext>
            </a:extLst>
          </p:cNvPr>
          <p:cNvSpPr>
            <a:spLocks xmlns:a="http://schemas.openxmlformats.org/drawingml/2006/main" noGrp="1"/>
          </p:cNvSpPr>
          <p:nvPr/>
        </p:nvSpPr>
        <p:spPr>
          <a:xfrm xmlns:a="http://schemas.openxmlformats.org/drawingml/2006/main">
            <a:off x="609600" y="1428750"/>
            <a:ext cx="4953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a:latin typeface="Helvetica Neue"/>
                <a:ea typeface="Helvetica Neue"/>
                <a:cs typeface="Helvetica Neue"/>
              </a:defRPr>
            </a:defPPr>
          </a:lstStyle>
          <a:p xmlns:a="http://schemas.openxmlformats.org/drawingml/2006/main">
            <a:pPr algn="l">
              <a:spcAft>
                <a:spcPts val="0"/>
              </a:spcAft>
              <a:defRPr>
                <a:latin typeface="Helvetica Neue"/>
                <a:ea typeface="Helvetica Neue"/>
                <a:cs typeface="Helvetica Neue"/>
              </a:defRPr>
            </a:pPr>
            <a:r>
              <a:rPr sz="1875" b="1">
                <a:solidFill>
                  <a:srgbClr val="0F7C80"/>
                </a:solidFill>
                <a:latin typeface="Helvetica Neue"/>
                <a:ea typeface="Helvetica Neue"/>
                <a:cs typeface="Helvetica Neue"/>
              </a:rPr>
              <a:t>Training: 1 Dec 2009 to 9 Oct 2011</a:t>
            </a:r>
          </a:p>
        </p:txBody>
      </p:sp>
      <p:sp>
        <p:nvSpPr>
          <p:cNvPr id="3" name="train-body">
            <a:extLst xmlns:a="http://schemas.openxmlformats.org/drawingml/2006/main">
              <a:ext uri="{FF2B5EF4-FFF2-40B4-BE49-F238E27FC236}">
                <a16:creationId xmlns:a16="http://schemas.microsoft.com/office/drawing/2014/main" id="{DB1C8580-218A-462A-A235-62C57184C304}"/>
              </a:ext>
            </a:extLst>
          </p:cNvPr>
          <p:cNvSpPr>
            <a:spLocks xmlns:a="http://schemas.openxmlformats.org/drawingml/2006/main" noGrp="1"/>
          </p:cNvSpPr>
          <p:nvPr/>
        </p:nvSpPr>
        <p:spPr>
          <a:xfrm xmlns:a="http://schemas.openxmlformats.org/drawingml/2006/main">
            <a:off x="609600" y="1962150"/>
            <a:ext cx="4953000" cy="400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a:latin typeface="Helvetica Neue"/>
                <a:ea typeface="Helvetica Neue"/>
                <a:cs typeface="Helvetica Neue"/>
              </a:defRPr>
            </a:defPPr>
          </a:lstStyle>
          <a:p xmlns:a="http://schemas.openxmlformats.org/drawingml/2006/main">
            <a:pPr algn="l">
              <a:spcAft>
                <a:spcPts val="1400"/>
              </a:spcAft>
              <a:defRPr>
                <a:latin typeface="Helvetica Neue"/>
                <a:ea typeface="Helvetica Neue"/>
                <a:cs typeface="Helvetica Neue"/>
              </a:defRPr>
            </a:pPr>
            <a:r>
              <a:rPr sz="1725" b="1">
                <a:solidFill>
                  <a:srgbClr val="1B2A4A"/>
                </a:solidFill>
                <a:latin typeface="Helvetica Neue"/>
                <a:ea typeface="Helvetica Neue"/>
                <a:cs typeface="Helvetica Neue"/>
              </a:rPr>
              <a:t>1,067,371</a:t>
            </a:r>
            <a:r>
              <a:rPr sz="1725" b="0">
                <a:solidFill>
                  <a:srgbClr val="1F2937"/>
                </a:solidFill>
                <a:latin typeface="Helvetica Neue"/>
                <a:ea typeface="Helvetica Neue"/>
                <a:cs typeface="Helvetica Neue"/>
              </a:rPr>
              <a:t> invoice lines, </a:t>
            </a:r>
            <a:r>
              <a:rPr sz="1725" b="1">
                <a:solidFill>
                  <a:srgbClr val="1B2A4A"/>
                </a:solidFill>
                <a:latin typeface="Helvetica Neue"/>
                <a:ea typeface="Helvetica Neue"/>
                <a:cs typeface="Helvetica Neue"/>
              </a:rPr>
              <a:t>802,634</a:t>
            </a:r>
            <a:r>
              <a:rPr sz="1725" b="0">
                <a:solidFill>
                  <a:srgbClr val="1F2937"/>
                </a:solidFill>
                <a:latin typeface="Helvetica Neue"/>
                <a:ea typeface="Helvetica Neue"/>
                <a:cs typeface="Helvetica Neue"/>
              </a:rPr>
              <a:t> after cleaning</a:t>
            </a:r>
          </a:p>
          <a:p xmlns:a="http://schemas.openxmlformats.org/drawingml/2006/main">
            <a:pPr algn="l">
              <a:spcAft>
                <a:spcPts val="1400"/>
              </a:spcAft>
              <a:defRPr>
                <a:latin typeface="Helvetica Neue"/>
                <a:ea typeface="Helvetica Neue"/>
                <a:cs typeface="Helvetica Neue"/>
              </a:defRPr>
            </a:pPr>
            <a:r>
              <a:rPr sz="1725" b="1">
                <a:solidFill>
                  <a:srgbClr val="1B2A4A"/>
                </a:solidFill>
                <a:latin typeface="Helvetica Neue"/>
                <a:ea typeface="Helvetica Neue"/>
                <a:cs typeface="Helvetica Neue"/>
              </a:rPr>
              <a:t>684,071</a:t>
            </a:r>
            <a:r>
              <a:rPr sz="1725" b="0">
                <a:solidFill>
                  <a:srgbClr val="1F2937"/>
                </a:solidFill>
                <a:latin typeface="Helvetica Neue"/>
                <a:ea typeface="Helvetica Neue"/>
                <a:cs typeface="Helvetica Neue"/>
              </a:rPr>
              <a:t> training lines before the cutoff</a:t>
            </a:r>
          </a:p>
          <a:p xmlns:a="http://schemas.openxmlformats.org/drawingml/2006/main">
            <a:pPr algn="l">
              <a:spcAft>
                <a:spcPts val="1400"/>
              </a:spcAft>
              <a:defRPr>
                <a:latin typeface="Helvetica Neue"/>
                <a:ea typeface="Helvetica Neue"/>
                <a:cs typeface="Helvetica Neue"/>
              </a:defRPr>
            </a:pPr>
            <a:r>
              <a:rPr sz="1725" b="1">
                <a:solidFill>
                  <a:srgbClr val="1B2A4A"/>
                </a:solidFill>
                <a:latin typeface="Helvetica Neue"/>
                <a:ea typeface="Helvetica Neue"/>
                <a:cs typeface="Helvetica Neue"/>
              </a:rPr>
              <a:t>5,473 x 3,687</a:t>
            </a:r>
            <a:r>
              <a:rPr sz="1725" b="0">
                <a:solidFill>
                  <a:srgbClr val="1F2937"/>
                </a:solidFill>
                <a:latin typeface="Helvetica Neue"/>
                <a:ea typeface="Helvetica Neue"/>
                <a:cs typeface="Helvetica Neue"/>
              </a:rPr>
              <a:t> customers by products</a:t>
            </a:r>
          </a:p>
          <a:p xmlns:a="http://schemas.openxmlformats.org/drawingml/2006/main">
            <a:pPr algn="l">
              <a:spcAft>
                <a:spcPts val="1400"/>
              </a:spcAft>
              <a:defRPr>
                <a:latin typeface="Helvetica Neue"/>
                <a:ea typeface="Helvetica Neue"/>
                <a:cs typeface="Helvetica Neue"/>
              </a:defRPr>
            </a:pPr>
            <a:r>
              <a:rPr sz="1725" b="1">
                <a:solidFill>
                  <a:srgbClr val="1B2A4A"/>
                </a:solidFill>
                <a:latin typeface="Helvetica Neue"/>
                <a:ea typeface="Helvetica Neue"/>
                <a:cs typeface="Helvetica Neue"/>
              </a:rPr>
              <a:t>97.9%</a:t>
            </a:r>
            <a:r>
              <a:rPr sz="1725" b="0">
                <a:solidFill>
                  <a:srgbClr val="1F2937"/>
                </a:solidFill>
                <a:latin typeface="Helvetica Neue"/>
                <a:ea typeface="Helvetica Neue"/>
                <a:cs typeface="Helvetica Neue"/>
              </a:rPr>
              <a:t> of cells are empty</a:t>
            </a:r>
          </a:p>
          <a:p xmlns:a="http://schemas.openxmlformats.org/drawingml/2006/main">
            <a:pPr algn="l">
              <a:spcAft>
                <a:spcPts val="1400"/>
              </a:spcAft>
              <a:defRPr>
                <a:latin typeface="Helvetica Neue"/>
                <a:ea typeface="Helvetica Neue"/>
                <a:cs typeface="Helvetica Neue"/>
              </a:defRPr>
            </a:pPr>
            <a:r>
              <a:rPr sz="1725" b="0">
                <a:solidFill>
                  <a:srgbClr val="1F2937"/>
                </a:solidFill>
                <a:latin typeface="Helvetica Neue"/>
                <a:ea typeface="Helvetica Neue"/>
                <a:cs typeface="Helvetica Neue"/>
              </a:rPr>
              <a:t>Cell value: log(1 + total quantity)</a:t>
            </a:r>
          </a:p>
          <a:p xmlns:a="http://schemas.openxmlformats.org/drawingml/2006/main">
            <a:pPr algn="l">
              <a:spcAft>
                <a:spcPts val="1400"/>
              </a:spcAft>
              <a:defRPr>
                <a:latin typeface="Helvetica Neue"/>
                <a:ea typeface="Helvetica Neue"/>
                <a:cs typeface="Helvetica Neue"/>
              </a:defRPr>
            </a:pPr>
            <a:r>
              <a:rPr sz="1725" b="0">
                <a:solidFill>
                  <a:srgbClr val="1F2937"/>
                </a:solidFill>
                <a:latin typeface="Helvetica Neue"/>
                <a:ea typeface="Helvetica Neue"/>
                <a:cs typeface="Helvetica Neue"/>
              </a:rPr>
              <a:t>Products need at least </a:t>
            </a:r>
            <a:r>
              <a:rPr sz="1725" b="1">
                <a:solidFill>
                  <a:srgbClr val="1B2A4A"/>
                </a:solidFill>
                <a:latin typeface="Helvetica Neue"/>
                <a:ea typeface="Helvetica Neue"/>
                <a:cs typeface="Helvetica Neue"/>
              </a:rPr>
              <a:t>10</a:t>
            </a:r>
            <a:r>
              <a:rPr sz="1725" b="0">
                <a:solidFill>
                  <a:srgbClr val="1F2937"/>
                </a:solidFill>
                <a:latin typeface="Helvetica Neue"/>
                <a:ea typeface="Helvetica Neue"/>
                <a:cs typeface="Helvetica Neue"/>
              </a:rPr>
              <a:t> training buyers</a:t>
            </a:r>
          </a:p>
        </p:txBody>
      </p:sp>
      <p:sp>
        <p:nvSpPr>
          <p:cNvPr id="4" name="test-heading">
            <a:extLst xmlns:a="http://schemas.openxmlformats.org/drawingml/2006/main">
              <a:ext uri="{FF2B5EF4-FFF2-40B4-BE49-F238E27FC236}">
                <a16:creationId xmlns:a16="http://schemas.microsoft.com/office/drawing/2014/main" id="{594CD525-A24C-41EA-8CC7-33418846758B}"/>
              </a:ext>
            </a:extLst>
          </p:cNvPr>
          <p:cNvSpPr>
            <a:spLocks xmlns:a="http://schemas.openxmlformats.org/drawingml/2006/main" noGrp="1"/>
          </p:cNvSpPr>
          <p:nvPr/>
        </p:nvSpPr>
        <p:spPr>
          <a:xfrm xmlns:a="http://schemas.openxmlformats.org/drawingml/2006/main">
            <a:off x="6629400" y="1428750"/>
            <a:ext cx="4953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a:latin typeface="Helvetica Neue"/>
                <a:ea typeface="Helvetica Neue"/>
                <a:cs typeface="Helvetica Neue"/>
              </a:defRPr>
            </a:defPPr>
          </a:lstStyle>
          <a:p xmlns:a="http://schemas.openxmlformats.org/drawingml/2006/main">
            <a:pPr algn="l">
              <a:spcAft>
                <a:spcPts val="0"/>
              </a:spcAft>
              <a:defRPr>
                <a:latin typeface="Helvetica Neue"/>
                <a:ea typeface="Helvetica Neue"/>
                <a:cs typeface="Helvetica Neue"/>
              </a:defRPr>
            </a:pPr>
            <a:r>
              <a:rPr sz="1875" b="1">
                <a:solidFill>
                  <a:srgbClr val="0F7C80"/>
                </a:solidFill>
                <a:latin typeface="Helvetica Neue"/>
                <a:ea typeface="Helvetica Neue"/>
                <a:cs typeface="Helvetica Neue"/>
              </a:rPr>
              <a:t>Test: 9 Oct 2011 to 9 Dec 2011</a:t>
            </a:r>
          </a:p>
        </p:txBody>
      </p:sp>
      <p:sp>
        <p:nvSpPr>
          <p:cNvPr id="5" name="test-body">
            <a:extLst xmlns:a="http://schemas.openxmlformats.org/drawingml/2006/main">
              <a:ext uri="{FF2B5EF4-FFF2-40B4-BE49-F238E27FC236}">
                <a16:creationId xmlns:a16="http://schemas.microsoft.com/office/drawing/2014/main" id="{ABAD4622-1D5C-4F91-9C3B-37F89EE247D2}"/>
              </a:ext>
            </a:extLst>
          </p:cNvPr>
          <p:cNvSpPr>
            <a:spLocks xmlns:a="http://schemas.openxmlformats.org/drawingml/2006/main" noGrp="1"/>
          </p:cNvSpPr>
          <p:nvPr/>
        </p:nvSpPr>
        <p:spPr>
          <a:xfrm xmlns:a="http://schemas.openxmlformats.org/drawingml/2006/main">
            <a:off x="6629400" y="1962150"/>
            <a:ext cx="4953000" cy="400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a:latin typeface="Helvetica Neue"/>
                <a:ea typeface="Helvetica Neue"/>
                <a:cs typeface="Helvetica Neue"/>
              </a:defRPr>
            </a:defPPr>
          </a:lstStyle>
          <a:p xmlns:a="http://schemas.openxmlformats.org/drawingml/2006/main">
            <a:pPr algn="l">
              <a:spcAft>
                <a:spcPts val="1400"/>
              </a:spcAft>
              <a:defRPr>
                <a:latin typeface="Helvetica Neue"/>
                <a:ea typeface="Helvetica Neue"/>
                <a:cs typeface="Helvetica Neue"/>
              </a:defRPr>
            </a:pPr>
            <a:r>
              <a:rPr sz="1725" b="0">
                <a:solidFill>
                  <a:srgbClr val="1F2937"/>
                </a:solidFill>
                <a:latin typeface="Helvetica Neue"/>
                <a:ea typeface="Helvetica Neue"/>
                <a:cs typeface="Helvetica Neue"/>
              </a:rPr>
              <a:t>Last two months, held out before any fitting</a:t>
            </a:r>
          </a:p>
          <a:p xmlns:a="http://schemas.openxmlformats.org/drawingml/2006/main">
            <a:pPr algn="l">
              <a:spcAft>
                <a:spcPts val="1400"/>
              </a:spcAft>
              <a:defRPr>
                <a:latin typeface="Helvetica Neue"/>
                <a:ea typeface="Helvetica Neue"/>
                <a:cs typeface="Helvetica Neue"/>
              </a:defRPr>
            </a:pPr>
            <a:r>
              <a:rPr sz="1725" b="1">
                <a:solidFill>
                  <a:srgbClr val="1B2A4A"/>
                </a:solidFill>
                <a:latin typeface="Helvetica Neue"/>
                <a:ea typeface="Helvetica Neue"/>
                <a:cs typeface="Helvetica Neue"/>
              </a:rPr>
              <a:t>72,919</a:t>
            </a:r>
            <a:r>
              <a:rPr sz="1725" b="0">
                <a:solidFill>
                  <a:srgbClr val="1F2937"/>
                </a:solidFill>
                <a:latin typeface="Helvetica Neue"/>
                <a:ea typeface="Helvetica Neue"/>
                <a:cs typeface="Helvetica Neue"/>
              </a:rPr>
              <a:t> invoice lines of new-to-customer products</a:t>
            </a:r>
          </a:p>
          <a:p xmlns:a="http://schemas.openxmlformats.org/drawingml/2006/main">
            <a:pPr algn="l">
              <a:spcAft>
                <a:spcPts val="1400"/>
              </a:spcAft>
              <a:defRPr>
                <a:latin typeface="Helvetica Neue"/>
                <a:ea typeface="Helvetica Neue"/>
                <a:cs typeface="Helvetica Neue"/>
              </a:defRPr>
            </a:pPr>
            <a:r>
              <a:rPr sz="1725" b="1">
                <a:solidFill>
                  <a:srgbClr val="1B2A4A"/>
                </a:solidFill>
                <a:latin typeface="Helvetica Neue"/>
                <a:ea typeface="Helvetica Neue"/>
                <a:cs typeface="Helvetica Neue"/>
              </a:rPr>
              <a:t>45,644</a:t>
            </a:r>
            <a:r>
              <a:rPr sz="1725" b="0">
                <a:solidFill>
                  <a:srgbClr val="1F2937"/>
                </a:solidFill>
                <a:latin typeface="Helvetica Neue"/>
                <a:ea typeface="Helvetica Neue"/>
                <a:cs typeface="Helvetica Neue"/>
              </a:rPr>
              <a:t> repeat-purchase lines left out</a:t>
            </a:r>
          </a:p>
          <a:p xmlns:a="http://schemas.openxmlformats.org/drawingml/2006/main">
            <a:pPr algn="l">
              <a:spcAft>
                <a:spcPts val="1400"/>
              </a:spcAft>
              <a:defRPr>
                <a:latin typeface="Helvetica Neue"/>
                <a:ea typeface="Helvetica Neue"/>
                <a:cs typeface="Helvetica Neue"/>
              </a:defRPr>
            </a:pPr>
            <a:r>
              <a:rPr sz="1725" b="1">
                <a:solidFill>
                  <a:srgbClr val="1B2A4A"/>
                </a:solidFill>
                <a:latin typeface="Helvetica Neue"/>
                <a:ea typeface="Helvetica Neue"/>
                <a:cs typeface="Helvetica Neue"/>
              </a:rPr>
              <a:t>1,913 of 2,308</a:t>
            </a:r>
            <a:r>
              <a:rPr sz="1725" b="0">
                <a:solidFill>
                  <a:srgbClr val="1F2937"/>
                </a:solidFill>
                <a:latin typeface="Helvetica Neue"/>
                <a:ea typeface="Helvetica Neue"/>
                <a:cs typeface="Helvetica Neue"/>
              </a:rPr>
              <a:t> customers scored (82.9%)</a:t>
            </a:r>
          </a:p>
          <a:p xmlns:a="http://schemas.openxmlformats.org/drawingml/2006/main">
            <a:pPr algn="l">
              <a:spcAft>
                <a:spcPts val="1400"/>
              </a:spcAft>
              <a:defRPr>
                <a:latin typeface="Helvetica Neue"/>
                <a:ea typeface="Helvetica Neue"/>
                <a:cs typeface="Helvetica Neue"/>
              </a:defRPr>
            </a:pPr>
            <a:r>
              <a:rPr sz="1725" b="1">
                <a:solidFill>
                  <a:srgbClr val="1B2A4A"/>
                </a:solidFill>
                <a:latin typeface="Helvetica Neue"/>
                <a:ea typeface="Helvetica Neue"/>
                <a:cs typeface="Helvetica Neue"/>
              </a:rPr>
              <a:t>2,555 of 2,849</a:t>
            </a:r>
            <a:r>
              <a:rPr sz="1725" b="0">
                <a:solidFill>
                  <a:srgbClr val="1F2937"/>
                </a:solidFill>
                <a:latin typeface="Helvetica Neue"/>
                <a:ea typeface="Helvetica Neue"/>
                <a:cs typeface="Helvetica Neue"/>
              </a:rPr>
              <a:t> test products in catalogue (89.7%)</a:t>
            </a:r>
          </a:p>
          <a:p xmlns:a="http://schemas.openxmlformats.org/drawingml/2006/main">
            <a:pPr algn="l">
              <a:spcAft>
                <a:spcPts val="1400"/>
              </a:spcAft>
              <a:defRPr>
                <a:latin typeface="Helvetica Neue"/>
                <a:ea typeface="Helvetica Neue"/>
                <a:cs typeface="Helvetica Neue"/>
              </a:defRPr>
            </a:pPr>
            <a:r>
              <a:rPr sz="1725" b="1">
                <a:solidFill>
                  <a:srgbClr val="1B2A4A"/>
                </a:solidFill>
                <a:latin typeface="Helvetica Neue"/>
                <a:ea typeface="Helvetica Neue"/>
                <a:cs typeface="Helvetica Neue"/>
              </a:rPr>
              <a:t>70.7%</a:t>
            </a:r>
            <a:r>
              <a:rPr sz="1725" b="0">
                <a:solidFill>
                  <a:srgbClr val="1F2937"/>
                </a:solidFill>
                <a:latin typeface="Helvetica Neue"/>
                <a:ea typeface="Helvetica Neue"/>
                <a:cs typeface="Helvetica Neue"/>
              </a:rPr>
              <a:t> of new customer-product pairs scored</a:t>
            </a:r>
          </a:p>
        </p:txBody>
      </p:sp>
      <p:sp>
        <p:nvSpPr>
          <p:cNvPr id="6" name="source-note">
            <a:extLst xmlns:a="http://schemas.openxmlformats.org/drawingml/2006/main">
              <a:ext uri="{FF2B5EF4-FFF2-40B4-BE49-F238E27FC236}">
                <a16:creationId xmlns:a16="http://schemas.microsoft.com/office/drawing/2014/main" id="{99EA3124-22F8-4588-B0E7-A451DD072873}"/>
              </a:ext>
            </a:extLst>
          </p:cNvPr>
          <p:cNvSpPr>
            <a:spLocks xmlns:a="http://schemas.openxmlformats.org/drawingml/2006/main" noGrp="1"/>
          </p:cNvSpPr>
          <p:nvPr/>
        </p:nvSpPr>
        <p:spPr>
          <a:xfrm xmlns:a="http://schemas.openxmlformats.org/drawingml/2006/main">
            <a:off x="609600" y="6381750"/>
            <a:ext cx="10972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b">
            <a:noAutofit/>
          </a:bodyPr>
          <a:lstStyle xmlns:a="http://schemas.openxmlformats.org/drawingml/2006/main">
            <a:defPPr algn="l">
              <a:defRPr>
                <a:latin typeface="Helvetica Neue"/>
                <a:ea typeface="Helvetica Neue"/>
                <a:cs typeface="Helvetica Neue"/>
              </a:defRPr>
            </a:defPPr>
          </a:lstStyle>
          <a:p xmlns:a="http://schemas.openxmlformats.org/drawingml/2006/main">
            <a:pPr algn="l">
              <a:spcAft>
                <a:spcPts val="0"/>
              </a:spcAft>
              <a:defRPr>
                <a:latin typeface="Helvetica Neue"/>
                <a:ea typeface="Helvetica Neue"/>
                <a:cs typeface="Helvetica Neue"/>
              </a:defRPr>
            </a:pPr>
            <a:r>
              <a:rPr sz="1050" b="0">
                <a:solidFill>
                  <a:srgbClr val="4B5563"/>
                </a:solidFill>
                <a:latin typeface="Helvetica Neue"/>
                <a:ea typeface="Helvetica Neue"/>
                <a:cs typeface="Helvetica Neue"/>
              </a:rPr>
              <a:t>Source: UCI Online Retail II (Chen, 2012), https://doi.org/10.24432/C5CG6D, CC BY 4.0. Counts from reports/matrix_report.json and reports/results.json.</a:t>
            </a:r>
          </a:p>
        </p:txBody>
      </p:sp>
    </p:spTree>
    <p:extLst>
      <p:ext uri="{BB962C8B-B14F-4D97-AF65-F5344CB8AC3E}">
        <p14:creationId xmlns:p14="http://schemas.microsoft.com/office/powerpoint/2010/main" val="26987813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B3C2E08-3B5D-42A8-A81D-16A966F53865}"/>
              </a:ext>
            </a:extLst>
          </p:cNvPr>
          <p:cNvSpPr>
            <a:spLocks xmlns:a="http://schemas.openxmlformats.org/drawingml/2006/main" noGrp="1"/>
          </p:cNvSpPr>
          <p:nvPr/>
        </p:nvSpPr>
        <p:spPr>
          <a:xfrm xmlns:a="http://schemas.openxmlformats.org/drawingml/2006/main">
            <a:off x="609600" y="3810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a:latin typeface="Helvetica Neue"/>
                <a:ea typeface="Helvetica Neue"/>
                <a:cs typeface="Helvetica Neue"/>
              </a:defRPr>
            </a:defPPr>
          </a:lstStyle>
          <a:p xmlns:a="http://schemas.openxmlformats.org/drawingml/2006/main">
            <a:pPr algn="l">
              <a:spcAft>
                <a:spcPts val="0"/>
              </a:spcAft>
              <a:defRPr>
                <a:latin typeface="Helvetica Neue"/>
                <a:ea typeface="Helvetica Neue"/>
                <a:cs typeface="Helvetica Neue"/>
              </a:defRPr>
            </a:pPr>
            <a:r>
              <a:rPr sz="3300" b="1">
                <a:solidFill>
                  <a:srgbClr val="1B2A4A"/>
                </a:solidFill>
                <a:latin typeface="Helvetica Neue"/>
                <a:ea typeface="Helvetica Neue"/>
                <a:cs typeface="Helvetica Neue"/>
              </a:rPr>
              <a:t>Rank 100 and the compression tradeoff</a:t>
            </a:r>
          </a:p>
        </p:txBody>
      </p:sp>
      <p:graphicFrame>
        <p:nvGraphicFramePr>
          <p:cNvPr id="2" name="Chart">
            <a:extLst xmlns:a="http://schemas.openxmlformats.org/drawingml/2006/main">
              <a:ext uri="{FF2B5EF4-FFF2-40B4-BE49-F238E27FC236}">
                <a16:creationId xmlns:a16="http://schemas.microsoft.com/office/drawing/2014/main" id="{A0286F17-B9F1-49AE-AF19-BCCB2BC72CC0}"/>
              </a:ext>
            </a:extLst>
          </p:cNvPr>
          <p:cNvGraphicFramePr/>
          <p:nvPr/>
        </p:nvGraphicFramePr>
        <p:xfrm>
          <a:off xmlns:a="http://schemas.openxmlformats.org/drawingml/2006/main" x="533400" y="1238250"/>
          <a:ext xmlns:a="http://schemas.openxmlformats.org/drawingml/2006/main" cx="6477000" cy="4762500"/>
        </p:xfrm>
        <a:graphic xmlns:a="http://schemas.openxmlformats.org/drawingml/2006/main">
          <a:graphicData uri="http://schemas.openxmlformats.org/drawingml/2006/chart">
            <c:chart xmlns:r="http://schemas.openxmlformats.org/officeDocument/2006/relationships" xmlns:c="http://schemas.openxmlformats.org/drawingml/2006/chart" r:id="Ra5e0dd491fb04390"/>
          </a:graphicData>
        </a:graphic>
      </p:graphicFrame>
      <p:sp>
        <p:nvSpPr>
          <p:cNvPr id="3" name="k-explanation">
            <a:extLst xmlns:a="http://schemas.openxmlformats.org/drawingml/2006/main">
              <a:ext uri="{FF2B5EF4-FFF2-40B4-BE49-F238E27FC236}">
                <a16:creationId xmlns:a16="http://schemas.microsoft.com/office/drawing/2014/main" id="{2657F407-FE81-4DBB-BADA-61624C97B97A}"/>
              </a:ext>
            </a:extLst>
          </p:cNvPr>
          <p:cNvSpPr>
            <a:spLocks xmlns:a="http://schemas.openxmlformats.org/drawingml/2006/main" noGrp="1"/>
          </p:cNvSpPr>
          <p:nvPr/>
        </p:nvSpPr>
        <p:spPr>
          <a:xfrm xmlns:a="http://schemas.openxmlformats.org/drawingml/2006/main">
            <a:off x="7543800" y="1428750"/>
            <a:ext cx="4038600" cy="447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a:latin typeface="Helvetica Neue"/>
                <a:ea typeface="Helvetica Neue"/>
                <a:cs typeface="Helvetica Neue"/>
              </a:defRPr>
            </a:defPPr>
          </a:lstStyle>
          <a:p xmlns:a="http://schemas.openxmlformats.org/drawingml/2006/main">
            <a:pPr algn="l">
              <a:spcAft>
                <a:spcPts val="1600"/>
              </a:spcAft>
              <a:defRPr>
                <a:latin typeface="Helvetica Neue"/>
                <a:ea typeface="Helvetica Neue"/>
                <a:cs typeface="Helvetica Neue"/>
              </a:defRPr>
            </a:pPr>
            <a:r>
              <a:rPr sz="1725" b="0">
                <a:solidFill>
                  <a:srgbClr val="1F2937"/>
                </a:solidFill>
                <a:latin typeface="Helvetica Neue"/>
                <a:ea typeface="Helvetica Neue"/>
                <a:cs typeface="Helvetica Neue"/>
              </a:rPr>
              <a:t>k = 100 was fixed from this training curve before any test result</a:t>
            </a:r>
          </a:p>
          <a:p xmlns:a="http://schemas.openxmlformats.org/drawingml/2006/main">
            <a:pPr algn="l">
              <a:spcAft>
                <a:spcPts val="1600"/>
              </a:spcAft>
              <a:defRPr>
                <a:latin typeface="Helvetica Neue"/>
                <a:ea typeface="Helvetica Neue"/>
                <a:cs typeface="Helvetica Neue"/>
              </a:defRPr>
            </a:pPr>
            <a:r>
              <a:rPr sz="1725" b="0">
                <a:solidFill>
                  <a:srgbClr val="1F2937"/>
                </a:solidFill>
                <a:latin typeface="Helvetica Neue"/>
                <a:ea typeface="Helvetica Neue"/>
                <a:cs typeface="Helvetica Neue"/>
              </a:rPr>
              <a:t>Relative reconstruction error: </a:t>
            </a:r>
            <a:r>
              <a:rPr sz="1725" b="1">
                <a:solidFill>
                  <a:srgbClr val="1B2A4A"/>
                </a:solidFill>
                <a:latin typeface="Helvetica Neue"/>
                <a:ea typeface="Helvetica Neue"/>
                <a:cs typeface="Helvetica Neue"/>
              </a:rPr>
              <a:t>72.7%</a:t>
            </a:r>
          </a:p>
          <a:p xmlns:a="http://schemas.openxmlformats.org/drawingml/2006/main">
            <a:pPr algn="l">
              <a:spcAft>
                <a:spcPts val="600"/>
              </a:spcAft>
              <a:defRPr>
                <a:latin typeface="Helvetica Neue"/>
                <a:ea typeface="Helvetica Neue"/>
                <a:cs typeface="Helvetica Neue"/>
              </a:defRPr>
            </a:pPr>
            <a:r>
              <a:rPr sz="1725" b="0">
                <a:solidFill>
                  <a:srgbClr val="1F2937"/>
                </a:solidFill>
                <a:latin typeface="Helvetica Neue"/>
                <a:ea typeface="Helvetica Neue"/>
                <a:cs typeface="Helvetica Neue"/>
              </a:rPr>
              <a:t>Dense table: </a:t>
            </a:r>
            <a:r>
              <a:rPr sz="1725" b="1">
                <a:solidFill>
                  <a:srgbClr val="1B2A4A"/>
                </a:solidFill>
                <a:latin typeface="Helvetica Neue"/>
                <a:ea typeface="Helvetica Neue"/>
                <a:cs typeface="Helvetica Neue"/>
              </a:rPr>
              <a:t>161.4 MB</a:t>
            </a:r>
          </a:p>
          <a:p xmlns:a="http://schemas.openxmlformats.org/drawingml/2006/main">
            <a:pPr algn="l">
              <a:spcAft>
                <a:spcPts val="600"/>
              </a:spcAft>
              <a:defRPr>
                <a:latin typeface="Helvetica Neue"/>
                <a:ea typeface="Helvetica Neue"/>
                <a:cs typeface="Helvetica Neue"/>
              </a:defRPr>
            </a:pPr>
            <a:r>
              <a:rPr sz="1725" b="0">
                <a:solidFill>
                  <a:srgbClr val="1F2937"/>
                </a:solidFill>
                <a:latin typeface="Helvetica Neue"/>
                <a:ea typeface="Helvetica Neue"/>
                <a:cs typeface="Helvetica Neue"/>
              </a:rPr>
              <a:t>Sparse matrix storage: </a:t>
            </a:r>
            <a:r>
              <a:rPr sz="1725" b="1">
                <a:solidFill>
                  <a:srgbClr val="1B2A4A"/>
                </a:solidFill>
                <a:latin typeface="Helvetica Neue"/>
                <a:ea typeface="Helvetica Neue"/>
                <a:cs typeface="Helvetica Neue"/>
              </a:rPr>
              <a:t>4.99 MB</a:t>
            </a:r>
          </a:p>
          <a:p xmlns:a="http://schemas.openxmlformats.org/drawingml/2006/main">
            <a:pPr algn="l">
              <a:spcAft>
                <a:spcPts val="600"/>
              </a:spcAft>
              <a:defRPr>
                <a:latin typeface="Helvetica Neue"/>
                <a:ea typeface="Helvetica Neue"/>
                <a:cs typeface="Helvetica Neue"/>
              </a:defRPr>
            </a:pPr>
            <a:r>
              <a:rPr sz="1725" b="0">
                <a:solidFill>
                  <a:srgbClr val="1F2937"/>
                </a:solidFill>
                <a:latin typeface="Helvetica Neue"/>
                <a:ea typeface="Helvetica Neue"/>
                <a:cs typeface="Helvetica Neue"/>
              </a:rPr>
              <a:t>Model factors: </a:t>
            </a:r>
            <a:r>
              <a:rPr sz="1725" b="1">
                <a:solidFill>
                  <a:srgbClr val="1B2A4A"/>
                </a:solidFill>
                <a:latin typeface="Helvetica Neue"/>
                <a:ea typeface="Helvetica Neue"/>
                <a:cs typeface="Helvetica Neue"/>
              </a:rPr>
              <a:t>7.33 MB</a:t>
            </a:r>
          </a:p>
          <a:p xmlns:a="http://schemas.openxmlformats.org/drawingml/2006/main">
            <a:pPr algn="l">
              <a:spcAft>
                <a:spcPts val="1600"/>
              </a:spcAft>
              <a:defRPr>
                <a:latin typeface="Helvetica Neue"/>
                <a:ea typeface="Helvetica Neue"/>
                <a:cs typeface="Helvetica Neue"/>
              </a:defRPr>
            </a:pPr>
            <a:r>
              <a:rPr sz="1725" b="0">
                <a:solidFill>
                  <a:srgbClr val="1F2937"/>
                </a:solidFill>
                <a:latin typeface="Helvetica Neue"/>
                <a:ea typeface="Helvetica Neue"/>
                <a:cs typeface="Helvetica Neue"/>
              </a:rPr>
              <a:t>22 times smaller than dense, but larger than sparse</a:t>
            </a:r>
          </a:p>
        </p:txBody>
      </p:sp>
      <p:sp>
        <p:nvSpPr>
          <p:cNvPr id="4" name="source-note">
            <a:extLst xmlns:a="http://schemas.openxmlformats.org/drawingml/2006/main">
              <a:ext uri="{FF2B5EF4-FFF2-40B4-BE49-F238E27FC236}">
                <a16:creationId xmlns:a16="http://schemas.microsoft.com/office/drawing/2014/main" id="{5B24200A-53B1-4173-9C36-1C82A0FA362E}"/>
              </a:ext>
            </a:extLst>
          </p:cNvPr>
          <p:cNvSpPr>
            <a:spLocks xmlns:a="http://schemas.openxmlformats.org/drawingml/2006/main" noGrp="1"/>
          </p:cNvSpPr>
          <p:nvPr/>
        </p:nvSpPr>
        <p:spPr>
          <a:xfrm xmlns:a="http://schemas.openxmlformats.org/drawingml/2006/main">
            <a:off x="609600" y="6381750"/>
            <a:ext cx="10972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b">
            <a:noAutofit/>
          </a:bodyPr>
          <a:lstStyle xmlns:a="http://schemas.openxmlformats.org/drawingml/2006/main">
            <a:defPPr algn="l">
              <a:defRPr>
                <a:latin typeface="Helvetica Neue"/>
                <a:ea typeface="Helvetica Neue"/>
                <a:cs typeface="Helvetica Neue"/>
              </a:defRPr>
            </a:defPPr>
          </a:lstStyle>
          <a:p xmlns:a="http://schemas.openxmlformats.org/drawingml/2006/main">
            <a:pPr algn="l">
              <a:spcAft>
                <a:spcPts val="0"/>
              </a:spcAft>
              <a:defRPr>
                <a:latin typeface="Helvetica Neue"/>
                <a:ea typeface="Helvetica Neue"/>
                <a:cs typeface="Helvetica Neue"/>
              </a:defRPr>
            </a:pPr>
            <a:r>
              <a:rPr sz="1050" b="0">
                <a:solidFill>
                  <a:srgbClr val="4B5563"/>
                </a:solidFill>
                <a:latin typeface="Helvetica Neue"/>
                <a:ea typeface="Helvetica Neue"/>
                <a:cs typeface="Helvetica Neue"/>
              </a:rPr>
              <a:t>Source: separate TruncatedSVD fits on the training matrix, reports/svd_curve.csv. Error = ||A - A_k|| / ||A|| (Frobenius). MB = 1,000,000 bytes.</a:t>
            </a:r>
          </a:p>
        </p:txBody>
      </p:sp>
    </p:spTree>
    <p:extLst>
      <p:ext uri="{BB962C8B-B14F-4D97-AF65-F5344CB8AC3E}">
        <p14:creationId xmlns:p14="http://schemas.microsoft.com/office/powerpoint/2010/main" val="169575037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AF5AED00-537E-4EC8-8126-9242DD60387C}"/>
              </a:ext>
            </a:extLst>
          </p:cNvPr>
          <p:cNvSpPr>
            <a:spLocks xmlns:a="http://schemas.openxmlformats.org/drawingml/2006/main" noGrp="1"/>
          </p:cNvSpPr>
          <p:nvPr/>
        </p:nvSpPr>
        <p:spPr>
          <a:xfrm xmlns:a="http://schemas.openxmlformats.org/drawingml/2006/main">
            <a:off x="609600" y="3810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a:latin typeface="Helvetica Neue"/>
                <a:ea typeface="Helvetica Neue"/>
                <a:cs typeface="Helvetica Neue"/>
              </a:defRPr>
            </a:defPPr>
          </a:lstStyle>
          <a:p xmlns:a="http://schemas.openxmlformats.org/drawingml/2006/main">
            <a:pPr algn="l">
              <a:spcAft>
                <a:spcPts val="0"/>
              </a:spcAft>
              <a:defRPr>
                <a:latin typeface="Helvetica Neue"/>
                <a:ea typeface="Helvetica Neue"/>
                <a:cs typeface="Helvetica Neue"/>
              </a:defRPr>
            </a:pPr>
            <a:r>
              <a:rPr sz="3300" b="1">
                <a:solidFill>
                  <a:srgbClr val="1B2A4A"/>
                </a:solidFill>
                <a:latin typeface="Helvetica Neue"/>
                <a:ea typeface="Helvetica Neue"/>
                <a:cs typeface="Helvetica Neue"/>
              </a:rPr>
              <a:t>PCA and SVD on the same matrix</a:t>
            </a:r>
          </a:p>
        </p:txBody>
      </p:sp>
      <p:graphicFrame>
        <p:nvGraphicFramePr>
          <p:cNvPr id="2" name="">
            <a:extLst xmlns:a="http://schemas.openxmlformats.org/drawingml/2006/main">
              <a:ext uri="{FF2B5EF4-FFF2-40B4-BE49-F238E27FC236}">
                <a16:creationId xmlns:a16="http://schemas.microsoft.com/office/drawing/2014/main" id="{7FFC7D26-1BC2-49A1-BAC9-3759E1045984}"/>
              </a:ext>
            </a:extLst>
          </p:cNvPr>
          <p:cNvGraphicFramePr/>
          <p:nvPr/>
        </p:nvGraphicFramePr>
        <p:xfrm>
          <a:off xmlns:a="http://schemas.openxmlformats.org/drawingml/2006/main" x="609600" y="1162050"/>
          <a:ext xmlns:a="http://schemas.openxmlformats.org/drawingml/2006/main" cx="10972800" cy="4133850"/>
        </p:xfrm>
        <a:graphic xmlns:a="http://schemas.openxmlformats.org/drawingml/2006/main">
          <a:graphicData uri="http://schemas.openxmlformats.org/drawingml/2006/table">
            <a:tbl>
              <a:tblPr/>
              <a:tblGrid>
                <a:gridCol w="3238500"/>
                <a:gridCol w="3867150"/>
                <a:gridCol w="3867150"/>
              </a:tblGrid>
              <a:tr h="476250">
                <a:tc>
                  <a:txBody>
                    <a:bodyPr/>
                    <a:lstStyle/>
                    <a:p>
                      <a:r>
                        <a:rPr sz="1650" b="1">
                          <a:solidFill>
                            <a:srgbClr val="FFFFFF"/>
                          </a:solidFill>
                          <a:latin typeface="Helvetica Neue"/>
                          <a:ea typeface="Helvetica Neue"/>
                          <a:cs typeface="Helvetica Neue"/>
                        </a:rPr>
                        <a:t>Measure</a:t>
                      </a:r>
                    </a:p>
                  </a:txBody>
                  <a:tcPr marL="133350" marR="133350" marT="38100" marB="38100" anchor="ctr">
                    <a:solidFill>
                      <a:srgbClr val="1B2A4A"/>
                    </a:solidFill>
                  </a:tcPr>
                </a:tc>
                <a:tc>
                  <a:txBody>
                    <a:bodyPr/>
                    <a:lstStyle/>
                    <a:p>
                      <a:r>
                        <a:rPr sz="1650" b="1">
                          <a:solidFill>
                            <a:srgbClr val="FFFFFF"/>
                          </a:solidFill>
                          <a:latin typeface="Helvetica Neue"/>
                          <a:ea typeface="Helvetica Neue"/>
                          <a:cs typeface="Helvetica Neue"/>
                        </a:rPr>
                        <a:t>PCA</a:t>
                      </a:r>
                    </a:p>
                  </a:txBody>
                  <a:tcPr marL="133350" marR="133350" marT="38100" marB="38100" anchor="ctr">
                    <a:solidFill>
                      <a:srgbClr val="1B2A4A"/>
                    </a:solidFill>
                  </a:tcPr>
                </a:tc>
                <a:tc>
                  <a:txBody>
                    <a:bodyPr/>
                    <a:lstStyle/>
                    <a:p>
                      <a:r>
                        <a:rPr sz="1650" b="1">
                          <a:solidFill>
                            <a:srgbClr val="FFFFFF"/>
                          </a:solidFill>
                          <a:latin typeface="Helvetica Neue"/>
                          <a:ea typeface="Helvetica Neue"/>
                          <a:cs typeface="Helvetica Neue"/>
                        </a:rPr>
                        <a:t>Truncated SVD</a:t>
                      </a:r>
                    </a:p>
                  </a:txBody>
                  <a:tcPr marL="133350" marR="133350" marT="38100" marB="38100" anchor="ctr">
                    <a:solidFill>
                      <a:srgbClr val="1B2A4A"/>
                    </a:solidFill>
                  </a:tcPr>
                </a:tc>
              </a:tr>
              <a:tr h="457200">
                <a:tc>
                  <a:txBody>
                    <a:bodyPr/>
                    <a:lstStyle/>
                    <a:p>
                      <a:r>
                        <a:rPr sz="1650" b="1">
                          <a:solidFill>
                            <a:srgbClr val="1B2A4A"/>
                          </a:solidFill>
                          <a:latin typeface="Helvetica Neue"/>
                          <a:ea typeface="Helvetica Neue"/>
                          <a:cs typeface="Helvetica Neue"/>
                        </a:rPr>
                        <a:t>Components (k)</a:t>
                      </a:r>
                    </a:p>
                  </a:txBody>
                  <a:tcPr marL="133350" marR="133350" marT="38100" marB="38100" anchor="ctr"/>
                </a:tc>
                <a:tc>
                  <a:txBody>
                    <a:bodyPr/>
                    <a:lstStyle/>
                    <a:p>
                      <a:r>
                        <a:rPr sz="1650">
                          <a:solidFill>
                            <a:srgbClr val="1F2937"/>
                          </a:solidFill>
                          <a:latin typeface="Helvetica Neue"/>
                          <a:ea typeface="Helvetica Neue"/>
                          <a:cs typeface="Helvetica Neue"/>
                        </a:rPr>
                        <a:t>100</a:t>
                      </a:r>
                    </a:p>
                  </a:txBody>
                  <a:tcPr marL="133350" marR="133350" marT="38100" marB="38100" anchor="ctr"/>
                </a:tc>
                <a:tc>
                  <a:txBody>
                    <a:bodyPr/>
                    <a:lstStyle/>
                    <a:p>
                      <a:r>
                        <a:rPr sz="1650">
                          <a:solidFill>
                            <a:srgbClr val="1F2937"/>
                          </a:solidFill>
                          <a:latin typeface="Helvetica Neue"/>
                          <a:ea typeface="Helvetica Neue"/>
                          <a:cs typeface="Helvetica Neue"/>
                        </a:rPr>
                        <a:t>100</a:t>
                      </a:r>
                    </a:p>
                  </a:txBody>
                  <a:tcPr marL="133350" marR="133350" marT="38100" marB="38100" anchor="ctr"/>
                </a:tc>
              </a:tr>
              <a:tr h="457200">
                <a:tc>
                  <a:txBody>
                    <a:bodyPr/>
                    <a:lstStyle/>
                    <a:p>
                      <a:r>
                        <a:rPr sz="1650" b="1">
                          <a:solidFill>
                            <a:srgbClr val="1B2A4A"/>
                          </a:solidFill>
                          <a:latin typeface="Helvetica Neue"/>
                          <a:ea typeface="Helvetica Neue"/>
                          <a:cs typeface="Helvetica Neue"/>
                        </a:rPr>
                        <a:t>Fit time</a:t>
                      </a:r>
                    </a:p>
                  </a:txBody>
                  <a:tcPr marL="133350" marR="133350" marT="38100" marB="38100" anchor="ctr"/>
                </a:tc>
                <a:tc>
                  <a:txBody>
                    <a:bodyPr/>
                    <a:lstStyle/>
                    <a:p>
                      <a:r>
                        <a:rPr sz="1650">
                          <a:solidFill>
                            <a:srgbClr val="1F2937"/>
                          </a:solidFill>
                          <a:latin typeface="Helvetica Neue"/>
                          <a:ea typeface="Helvetica Neue"/>
                          <a:cs typeface="Helvetica Neue"/>
                        </a:rPr>
                        <a:t>0.190 s</a:t>
                      </a:r>
                    </a:p>
                  </a:txBody>
                  <a:tcPr marL="133350" marR="133350" marT="38100" marB="38100" anchor="ctr"/>
                </a:tc>
                <a:tc>
                  <a:txBody>
                    <a:bodyPr/>
                    <a:lstStyle/>
                    <a:p>
                      <a:r>
                        <a:rPr sz="1650">
                          <a:solidFill>
                            <a:srgbClr val="1F2937"/>
                          </a:solidFill>
                          <a:latin typeface="Helvetica Neue"/>
                          <a:ea typeface="Helvetica Neue"/>
                          <a:cs typeface="Helvetica Neue"/>
                        </a:rPr>
                        <a:t>0.186 s</a:t>
                      </a:r>
                    </a:p>
                  </a:txBody>
                  <a:tcPr marL="133350" marR="133350" marT="38100" marB="38100" anchor="ctr"/>
                </a:tc>
              </a:tr>
              <a:tr h="457200">
                <a:tc>
                  <a:txBody>
                    <a:bodyPr/>
                    <a:lstStyle/>
                    <a:p>
                      <a:r>
                        <a:rPr sz="1650" b="1">
                          <a:solidFill>
                            <a:srgbClr val="1B2A4A"/>
                          </a:solidFill>
                          <a:latin typeface="Helvetica Neue"/>
                          <a:ea typeface="Helvetica Neue"/>
                          <a:cs typeface="Helvetica Neue"/>
                        </a:rPr>
                        <a:t>Peak memory during fit</a:t>
                      </a:r>
                    </a:p>
                  </a:txBody>
                  <a:tcPr marL="133350" marR="133350" marT="38100" marB="38100" anchor="ctr"/>
                </a:tc>
                <a:tc>
                  <a:txBody>
                    <a:bodyPr/>
                    <a:lstStyle/>
                    <a:p>
                      <a:r>
                        <a:rPr sz="1650">
                          <a:solidFill>
                            <a:srgbClr val="1F2937"/>
                          </a:solidFill>
                          <a:latin typeface="Helvetica Neue"/>
                          <a:ea typeface="Helvetica Neue"/>
                          <a:cs typeface="Helvetica Neue"/>
                        </a:rPr>
                        <a:t>202 MB</a:t>
                      </a:r>
                    </a:p>
                  </a:txBody>
                  <a:tcPr marL="133350" marR="133350" marT="38100" marB="38100" anchor="ctr"/>
                </a:tc>
                <a:tc>
                  <a:txBody>
                    <a:bodyPr/>
                    <a:lstStyle/>
                    <a:p>
                      <a:r>
                        <a:rPr sz="1650">
                          <a:solidFill>
                            <a:srgbClr val="1F2937"/>
                          </a:solidFill>
                          <a:latin typeface="Helvetica Neue"/>
                          <a:ea typeface="Helvetica Neue"/>
                          <a:cs typeface="Helvetica Neue"/>
                        </a:rPr>
                        <a:t>211 MB</a:t>
                      </a:r>
                    </a:p>
                  </a:txBody>
                  <a:tcPr marL="133350" marR="133350" marT="38100" marB="38100" anchor="ctr"/>
                </a:tc>
              </a:tr>
              <a:tr h="457200">
                <a:tc>
                  <a:txBody>
                    <a:bodyPr/>
                    <a:lstStyle/>
                    <a:p>
                      <a:r>
                        <a:rPr sz="1650" b="1">
                          <a:solidFill>
                            <a:srgbClr val="1B2A4A"/>
                          </a:solidFill>
                          <a:latin typeface="Helvetica Neue"/>
                          <a:ea typeface="Helvetica Neue"/>
                          <a:cs typeface="Helvetica Neue"/>
                        </a:rPr>
                        <a:t>Stored factors</a:t>
                      </a:r>
                    </a:p>
                  </a:txBody>
                  <a:tcPr marL="133350" marR="133350" marT="38100" marB="38100" anchor="ctr"/>
                </a:tc>
                <a:tc>
                  <a:txBody>
                    <a:bodyPr/>
                    <a:lstStyle/>
                    <a:p>
                      <a:r>
                        <a:rPr sz="1650">
                          <a:solidFill>
                            <a:srgbClr val="1F2937"/>
                          </a:solidFill>
                          <a:latin typeface="Helvetica Neue"/>
                          <a:ea typeface="Helvetica Neue"/>
                          <a:cs typeface="Helvetica Neue"/>
                        </a:rPr>
                        <a:t>7.36 MB (with mean)</a:t>
                      </a:r>
                    </a:p>
                  </a:txBody>
                  <a:tcPr marL="133350" marR="133350" marT="38100" marB="38100" anchor="ctr"/>
                </a:tc>
                <a:tc>
                  <a:txBody>
                    <a:bodyPr/>
                    <a:lstStyle/>
                    <a:p>
                      <a:r>
                        <a:rPr sz="1650">
                          <a:solidFill>
                            <a:srgbClr val="1F2937"/>
                          </a:solidFill>
                          <a:latin typeface="Helvetica Neue"/>
                          <a:ea typeface="Helvetica Neue"/>
                          <a:cs typeface="Helvetica Neue"/>
                        </a:rPr>
                        <a:t>7.33 MB</a:t>
                      </a:r>
                    </a:p>
                  </a:txBody>
                  <a:tcPr marL="133350" marR="133350" marT="38100" marB="38100" anchor="ctr"/>
                </a:tc>
              </a:tr>
              <a:tr h="457200">
                <a:tc>
                  <a:txBody>
                    <a:bodyPr/>
                    <a:lstStyle/>
                    <a:p>
                      <a:r>
                        <a:rPr sz="1650" b="1">
                          <a:solidFill>
                            <a:srgbClr val="1B2A4A"/>
                          </a:solidFill>
                          <a:latin typeface="Helvetica Neue"/>
                          <a:ea typeface="Helvetica Neue"/>
                          <a:cs typeface="Helvetica Neue"/>
                        </a:rPr>
                        <a:t>Variance explained or error</a:t>
                      </a:r>
                    </a:p>
                  </a:txBody>
                  <a:tcPr marL="133350" marR="133350" marT="38100" marB="38100" anchor="ctr"/>
                </a:tc>
                <a:tc>
                  <a:txBody>
                    <a:bodyPr/>
                    <a:lstStyle/>
                    <a:p>
                      <a:r>
                        <a:rPr sz="1650">
                          <a:solidFill>
                            <a:srgbClr val="1F2937"/>
                          </a:solidFill>
                          <a:latin typeface="Helvetica Neue"/>
                          <a:ea typeface="Helvetica Neue"/>
                          <a:cs typeface="Helvetica Neue"/>
                        </a:rPr>
                        <a:t>44.8% explained, 72.7% error</a:t>
                      </a:r>
                    </a:p>
                  </a:txBody>
                  <a:tcPr marL="133350" marR="133350" marT="38100" marB="38100" anchor="ctr"/>
                </a:tc>
                <a:tc>
                  <a:txBody>
                    <a:bodyPr/>
                    <a:lstStyle/>
                    <a:p>
                      <a:r>
                        <a:rPr sz="1650">
                          <a:solidFill>
                            <a:srgbClr val="1F2937"/>
                          </a:solidFill>
                          <a:latin typeface="Helvetica Neue"/>
                          <a:ea typeface="Helvetica Neue"/>
                          <a:cs typeface="Helvetica Neue"/>
                        </a:rPr>
                        <a:t>72.7% relative error</a:t>
                      </a:r>
                    </a:p>
                  </a:txBody>
                  <a:tcPr marL="133350" marR="133350" marT="38100" marB="38100" anchor="ctr"/>
                </a:tc>
              </a:tr>
              <a:tr h="457200">
                <a:tc>
                  <a:txBody>
                    <a:bodyPr/>
                    <a:lstStyle/>
                    <a:p>
                      <a:r>
                        <a:rPr sz="1650" b="1">
                          <a:solidFill>
                            <a:srgbClr val="1B2A4A"/>
                          </a:solidFill>
                          <a:latin typeface="Helvetica Neue"/>
                          <a:ea typeface="Helvetica Neue"/>
                          <a:cs typeface="Helvetica Neue"/>
                        </a:rPr>
                        <a:t>Hit rate at 10</a:t>
                      </a:r>
                    </a:p>
                  </a:txBody>
                  <a:tcPr marL="133350" marR="133350" marT="38100" marB="38100" anchor="ctr"/>
                </a:tc>
                <a:tc>
                  <a:txBody>
                    <a:bodyPr/>
                    <a:lstStyle/>
                    <a:p>
                      <a:r>
                        <a:rPr sz="1650">
                          <a:solidFill>
                            <a:srgbClr val="1F2937"/>
                          </a:solidFill>
                          <a:latin typeface="Helvetica Neue"/>
                          <a:ea typeface="Helvetica Neue"/>
                          <a:cs typeface="Helvetica Neue"/>
                        </a:rPr>
                        <a:t>22.9% (438/1,913)</a:t>
                      </a:r>
                    </a:p>
                  </a:txBody>
                  <a:tcPr marL="133350" marR="133350" marT="38100" marB="38100" anchor="ctr"/>
                </a:tc>
                <a:tc>
                  <a:txBody>
                    <a:bodyPr/>
                    <a:lstStyle/>
                    <a:p>
                      <a:r>
                        <a:rPr sz="1650">
                          <a:solidFill>
                            <a:srgbClr val="1F2937"/>
                          </a:solidFill>
                          <a:latin typeface="Helvetica Neue"/>
                          <a:ea typeface="Helvetica Neue"/>
                          <a:cs typeface="Helvetica Neue"/>
                        </a:rPr>
                        <a:t>23.2% (444/1,913)</a:t>
                      </a:r>
                    </a:p>
                  </a:txBody>
                  <a:tcPr marL="133350" marR="133350" marT="38100" marB="38100" anchor="ctr"/>
                </a:tc>
              </a:tr>
              <a:tr h="457200">
                <a:tc>
                  <a:txBody>
                    <a:bodyPr/>
                    <a:lstStyle/>
                    <a:p>
                      <a:r>
                        <a:rPr sz="1650" b="1">
                          <a:solidFill>
                            <a:srgbClr val="1B2A4A"/>
                          </a:solidFill>
                          <a:latin typeface="Helvetica Neue"/>
                          <a:ea typeface="Helvetica Neue"/>
                          <a:cs typeface="Helvetica Neue"/>
                        </a:rPr>
                        <a:t>Best-seller hit rate at 10</a:t>
                      </a:r>
                    </a:p>
                  </a:txBody>
                  <a:tcPr marL="133350" marR="133350" marT="38100" marB="38100" anchor="ctr"/>
                </a:tc>
                <a:tc>
                  <a:txBody>
                    <a:bodyPr/>
                    <a:lstStyle/>
                    <a:p>
                      <a:r>
                        <a:rPr sz="1650">
                          <a:solidFill>
                            <a:srgbClr val="1F2937"/>
                          </a:solidFill>
                          <a:latin typeface="Helvetica Neue"/>
                          <a:ea typeface="Helvetica Neue"/>
                          <a:cs typeface="Helvetica Neue"/>
                        </a:rPr>
                        <a:t>17.4% (333/1,913)</a:t>
                      </a:r>
                    </a:p>
                  </a:txBody>
                  <a:tcPr marL="133350" marR="133350" marT="38100" marB="38100" anchor="ctr"/>
                </a:tc>
                <a:tc>
                  <a:txBody>
                    <a:bodyPr/>
                    <a:lstStyle/>
                    <a:p>
                      <a:r>
                        <a:rPr sz="1650">
                          <a:solidFill>
                            <a:srgbClr val="1F2937"/>
                          </a:solidFill>
                          <a:latin typeface="Helvetica Neue"/>
                          <a:ea typeface="Helvetica Neue"/>
                          <a:cs typeface="Helvetica Neue"/>
                        </a:rPr>
                        <a:t>17.4% (333/1,913)</a:t>
                      </a:r>
                    </a:p>
                  </a:txBody>
                  <a:tcPr marL="133350" marR="133350" marT="38100" marB="38100" anchor="ctr"/>
                </a:tc>
              </a:tr>
              <a:tr h="457200">
                <a:tc>
                  <a:txBody>
                    <a:bodyPr/>
                    <a:lstStyle/>
                    <a:p>
                      <a:r>
                        <a:rPr sz="1650" b="1">
                          <a:solidFill>
                            <a:srgbClr val="1B2A4A"/>
                          </a:solidFill>
                          <a:latin typeface="Helvetica Neue"/>
                          <a:ea typeface="Helvetica Neue"/>
                          <a:cs typeface="Helvetica Neue"/>
                        </a:rPr>
                        <a:t>Component 1 meaning</a:t>
                      </a:r>
                    </a:p>
                  </a:txBody>
                  <a:tcPr marL="133350" marR="133350" marT="38100" marB="38100" anchor="ctr">
                    <a:lnB w="9525">
                      <a:solidFill>
                        <a:srgbClr val="D1D5DB"/>
                      </a:solidFill>
                      <a:prstDash val="solid"/>
                    </a:lnB>
                  </a:tcPr>
                </a:tc>
                <a:tc>
                  <a:txBody>
                    <a:bodyPr/>
                    <a:lstStyle/>
                    <a:p>
                      <a:r>
                        <a:rPr sz="1650">
                          <a:solidFill>
                            <a:srgbClr val="1F2937"/>
                          </a:solidFill>
                          <a:latin typeface="Helvetica Neue"/>
                          <a:ea typeface="Helvetica Neue"/>
                          <a:cs typeface="Helvetica Neue"/>
                        </a:rPr>
                        <a:t>Overall buying volume (r = 0.68)</a:t>
                      </a:r>
                    </a:p>
                  </a:txBody>
                  <a:tcPr marL="133350" marR="133350" marT="38100" marB="38100" anchor="ctr">
                    <a:lnB w="9525">
                      <a:solidFill>
                        <a:srgbClr val="D1D5DB"/>
                      </a:solidFill>
                      <a:prstDash val="solid"/>
                    </a:lnB>
                  </a:tcPr>
                </a:tc>
                <a:tc>
                  <a:txBody>
                    <a:bodyPr/>
                    <a:lstStyle/>
                    <a:p>
                      <a:r>
                        <a:rPr sz="1650">
                          <a:solidFill>
                            <a:srgbClr val="1F2937"/>
                          </a:solidFill>
                          <a:latin typeface="Helvetica Neue"/>
                          <a:ea typeface="Helvetica Neue"/>
                          <a:cs typeface="Helvetica Neue"/>
                        </a:rPr>
                        <a:t>Overall buying volume (r = 0.69)</a:t>
                      </a:r>
                    </a:p>
                  </a:txBody>
                  <a:tcPr marL="133350" marR="133350" marT="38100" marB="38100" anchor="ctr">
                    <a:lnB w="9525">
                      <a:solidFill>
                        <a:srgbClr val="D1D5DB"/>
                      </a:solidFill>
                      <a:prstDash val="solid"/>
                    </a:lnB>
                  </a:tcPr>
                </a:tc>
              </a:tr>
            </a:tbl>
          </a:graphicData>
        </a:graphic>
      </p:graphicFrame>
      <p:sp>
        <p:nvSpPr>
          <p:cNvPr id="3" name="comparison-takeaway">
            <a:extLst xmlns:a="http://schemas.openxmlformats.org/drawingml/2006/main">
              <a:ext uri="{FF2B5EF4-FFF2-40B4-BE49-F238E27FC236}">
                <a16:creationId xmlns:a16="http://schemas.microsoft.com/office/drawing/2014/main" id="{071E4F7E-3883-419C-8550-F5D1DAABA728}"/>
              </a:ext>
            </a:extLst>
          </p:cNvPr>
          <p:cNvSpPr>
            <a:spLocks xmlns:a="http://schemas.openxmlformats.org/drawingml/2006/main" noGrp="1"/>
          </p:cNvSpPr>
          <p:nvPr/>
        </p:nvSpPr>
        <p:spPr>
          <a:xfrm xmlns:a="http://schemas.openxmlformats.org/drawingml/2006/main">
            <a:off x="609600" y="5981700"/>
            <a:ext cx="10972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a:latin typeface="Helvetica Neue"/>
                <a:ea typeface="Helvetica Neue"/>
                <a:cs typeface="Helvetica Neue"/>
              </a:defRPr>
            </a:defPPr>
          </a:lstStyle>
          <a:p xmlns:a="http://schemas.openxmlformats.org/drawingml/2006/main">
            <a:pPr algn="l">
              <a:spcAft>
                <a:spcPts val="0"/>
              </a:spcAft>
              <a:defRPr>
                <a:latin typeface="Helvetica Neue"/>
                <a:ea typeface="Helvetica Neue"/>
                <a:cs typeface="Helvetica Neue"/>
              </a:defRPr>
            </a:pPr>
            <a:r>
              <a:rPr sz="1725" b="0">
                <a:solidFill>
                  <a:srgbClr val="1B2A4A"/>
                </a:solidFill>
                <a:latin typeface="Helvetica Neue"/>
                <a:ea typeface="Helvetica Neue"/>
                <a:cs typeface="Helvetica Neue"/>
              </a:rPr>
              <a:t>Both beat best sellers. SVD minus PCA: 0.3 points (95% interval -0.1 to 0.7), no established difference.</a:t>
            </a:r>
          </a:p>
        </p:txBody>
      </p:sp>
      <p:sp>
        <p:nvSpPr>
          <p:cNvPr id="4" name="source-note">
            <a:extLst xmlns:a="http://schemas.openxmlformats.org/drawingml/2006/main">
              <a:ext uri="{FF2B5EF4-FFF2-40B4-BE49-F238E27FC236}">
                <a16:creationId xmlns:a16="http://schemas.microsoft.com/office/drawing/2014/main" id="{2F0C0CC6-A099-499C-AED4-CFB5D34E8B90}"/>
              </a:ext>
            </a:extLst>
          </p:cNvPr>
          <p:cNvSpPr>
            <a:spLocks xmlns:a="http://schemas.openxmlformats.org/drawingml/2006/main" noGrp="1"/>
          </p:cNvSpPr>
          <p:nvPr/>
        </p:nvSpPr>
        <p:spPr>
          <a:xfrm xmlns:a="http://schemas.openxmlformats.org/drawingml/2006/main">
            <a:off x="609600" y="6381750"/>
            <a:ext cx="10972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b">
            <a:noAutofit/>
          </a:bodyPr>
          <a:lstStyle xmlns:a="http://schemas.openxmlformats.org/drawingml/2006/main">
            <a:defPPr algn="l">
              <a:defRPr>
                <a:latin typeface="Helvetica Neue"/>
                <a:ea typeface="Helvetica Neue"/>
                <a:cs typeface="Helvetica Neue"/>
              </a:defRPr>
            </a:defPPr>
          </a:lstStyle>
          <a:p xmlns:a="http://schemas.openxmlformats.org/drawingml/2006/main">
            <a:pPr algn="l">
              <a:spcAft>
                <a:spcPts val="0"/>
              </a:spcAft>
              <a:defRPr>
                <a:latin typeface="Helvetica Neue"/>
                <a:ea typeface="Helvetica Neue"/>
                <a:cs typeface="Helvetica Neue"/>
              </a:defRPr>
            </a:pPr>
            <a:r>
              <a:rPr sz="1050" b="0">
                <a:solidFill>
                  <a:srgbClr val="4B5563"/>
                </a:solidFill>
                <a:latin typeface="Helvetica Neue"/>
                <a:ea typeface="Helvetica Neue"/>
                <a:cs typeface="Helvetica Neue"/>
              </a:rPr>
              <a:t>Source: reports/comparison.csv. Hit rates use the same 1,913 test customers with history and at least one new-to-them catalogue product.</a:t>
            </a:r>
          </a:p>
        </p:txBody>
      </p:sp>
    </p:spTree>
    <p:extLst>
      <p:ext uri="{BB962C8B-B14F-4D97-AF65-F5344CB8AC3E}">
        <p14:creationId xmlns:p14="http://schemas.microsoft.com/office/powerpoint/2010/main" val="114391408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C7EEDE3-FA07-407B-BB6D-AC6BE4DC7410}"/>
              </a:ext>
            </a:extLst>
          </p:cNvPr>
          <p:cNvSpPr>
            <a:spLocks xmlns:a="http://schemas.openxmlformats.org/drawingml/2006/main" noGrp="1"/>
          </p:cNvSpPr>
          <p:nvPr/>
        </p:nvSpPr>
        <p:spPr>
          <a:xfrm xmlns:a="http://schemas.openxmlformats.org/drawingml/2006/main">
            <a:off x="609600" y="3810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a:latin typeface="Helvetica Neue"/>
                <a:ea typeface="Helvetica Neue"/>
                <a:cs typeface="Helvetica Neue"/>
              </a:defRPr>
            </a:defPPr>
          </a:lstStyle>
          <a:p xmlns:a="http://schemas.openxmlformats.org/drawingml/2006/main">
            <a:pPr algn="l">
              <a:spcAft>
                <a:spcPts val="0"/>
              </a:spcAft>
              <a:defRPr>
                <a:latin typeface="Helvetica Neue"/>
                <a:ea typeface="Helvetica Neue"/>
                <a:cs typeface="Helvetica Neue"/>
              </a:defRPr>
            </a:pPr>
            <a:r>
              <a:rPr sz="3300" b="1">
                <a:solidFill>
                  <a:srgbClr val="1B2A4A"/>
                </a:solidFill>
                <a:latin typeface="Helvetica Neue"/>
                <a:ea typeface="Helvetica Neue"/>
                <a:cs typeface="Helvetica Neue"/>
              </a:rPr>
              <a:t>Customer groups for marketing</a:t>
            </a:r>
          </a:p>
        </p:txBody>
      </p:sp>
      <p:pic>
        <p:nvPicPr>
          <p:cNvPr id="2" name="">
            <a:extLst xmlns:a="http://schemas.openxmlformats.org/drawingml/2006/main">
              <a:ext uri="{FF2B5EF4-FFF2-40B4-BE49-F238E27FC236}">
                <a16:creationId xmlns:a16="http://schemas.microsoft.com/office/drawing/2014/main" id="{8D59D6D8-6D51-4510-9DB0-72B71C6F69BB}"/>
              </a:ext>
            </a:extLst>
          </p:cNvPr>
          <p:cNvPicPr>
            <a:picLocks xmlns:a="http://schemas.openxmlformats.org/drawingml/2006/main" noChangeAspect="1"/>
          </p:cNvPicPr>
          <p:nvPr/>
        </p:nvPicPr>
        <p:blipFill>
          <a:blip xmlns:r="http://schemas.openxmlformats.org/officeDocument/2006/relationships" xmlns:a="http://schemas.openxmlformats.org/drawingml/2006/main" r:embed="R19f3b6a8803e434d"/>
          <a:stretch xmlns:a="http://schemas.openxmlformats.org/drawingml/2006/main"/>
        </p:blipFill>
        <p:spPr>
          <a:xfrm xmlns:a="http://schemas.openxmlformats.org/drawingml/2006/main">
            <a:off x="458358" y="1123950"/>
            <a:ext cx="6255608" cy="5143500"/>
          </a:xfrm>
          <a:prstGeom xmlns:a="http://schemas.openxmlformats.org/drawingml/2006/main" prst="rect">
            <a:avLst/>
          </a:prstGeom>
        </p:spPr>
      </p:pic>
      <p:sp>
        <p:nvSpPr>
          <p:cNvPr id="3" name="segment-list">
            <a:extLst xmlns:a="http://schemas.openxmlformats.org/drawingml/2006/main">
              <a:ext uri="{FF2B5EF4-FFF2-40B4-BE49-F238E27FC236}">
                <a16:creationId xmlns:a16="http://schemas.microsoft.com/office/drawing/2014/main" id="{10B5AAAC-3365-44EB-8000-1470CB9CA578}"/>
              </a:ext>
            </a:extLst>
          </p:cNvPr>
          <p:cNvSpPr>
            <a:spLocks xmlns:a="http://schemas.openxmlformats.org/drawingml/2006/main" noGrp="1"/>
          </p:cNvSpPr>
          <p:nvPr/>
        </p:nvSpPr>
        <p:spPr>
          <a:xfrm xmlns:a="http://schemas.openxmlformats.org/drawingml/2006/main">
            <a:off x="7058025" y="1276350"/>
            <a:ext cx="4524375" cy="495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a:latin typeface="Helvetica Neue"/>
                <a:ea typeface="Helvetica Neue"/>
                <a:cs typeface="Helvetica Neue"/>
              </a:defRPr>
            </a:defPPr>
          </a:lstStyle>
          <a:p xmlns:a="http://schemas.openxmlformats.org/drawingml/2006/main">
            <a:pPr algn="l">
              <a:spcAft>
                <a:spcPts val="300"/>
              </a:spcAft>
              <a:defRPr>
                <a:latin typeface="Helvetica Neue"/>
                <a:ea typeface="Helvetica Neue"/>
                <a:cs typeface="Helvetica Neue"/>
              </a:defRPr>
            </a:pPr>
            <a:r>
              <a:rPr sz="1575" b="1">
                <a:solidFill>
                  <a:srgbClr val="1B2A4A"/>
                </a:solidFill>
                <a:latin typeface="Helvetica Neue"/>
                <a:ea typeface="Helvetica Neue"/>
                <a:cs typeface="Helvetica Neue"/>
              </a:rPr>
              <a:t>High-volume wholesalers: children's ranges</a:t>
            </a:r>
          </a:p>
          <a:p xmlns:a="http://schemas.openxmlformats.org/drawingml/2006/main">
            <a:pPr algn="l">
              <a:spcAft>
                <a:spcPts val="1500"/>
              </a:spcAft>
              <a:defRPr>
                <a:latin typeface="Helvetica Neue"/>
                <a:ea typeface="Helvetica Neue"/>
                <a:cs typeface="Helvetica Neue"/>
              </a:defRPr>
            </a:pPr>
            <a:r>
              <a:rPr sz="1500" b="0">
                <a:solidFill>
                  <a:srgbClr val="4B5563"/>
                </a:solidFill>
                <a:latin typeface="Helvetica Neue"/>
                <a:ea typeface="Helvetica Neue"/>
                <a:cs typeface="Helvetica Neue"/>
              </a:rPr>
              <a:t>UK 85%. Example: Dolly girl beaker</a:t>
            </a:r>
          </a:p>
          <a:p xmlns:a="http://schemas.openxmlformats.org/drawingml/2006/main">
            <a:pPr algn="l">
              <a:spcAft>
                <a:spcPts val="300"/>
              </a:spcAft>
              <a:defRPr>
                <a:latin typeface="Helvetica Neue"/>
                <a:ea typeface="Helvetica Neue"/>
                <a:cs typeface="Helvetica Neue"/>
              </a:defRPr>
            </a:pPr>
            <a:r>
              <a:rPr sz="1575" b="1">
                <a:solidFill>
                  <a:srgbClr val="1B2A4A"/>
                </a:solidFill>
                <a:latin typeface="Helvetica Neue"/>
                <a:ea typeface="Helvetica Neue"/>
                <a:cs typeface="Helvetica Neue"/>
              </a:rPr>
              <a:t>Mid-size regular buyers: home decor</a:t>
            </a:r>
          </a:p>
          <a:p xmlns:a="http://schemas.openxmlformats.org/drawingml/2006/main">
            <a:pPr algn="l">
              <a:spcAft>
                <a:spcPts val="1500"/>
              </a:spcAft>
              <a:defRPr>
                <a:latin typeface="Helvetica Neue"/>
                <a:ea typeface="Helvetica Neue"/>
                <a:cs typeface="Helvetica Neue"/>
              </a:defRPr>
            </a:pPr>
            <a:r>
              <a:rPr sz="1500" b="0">
                <a:solidFill>
                  <a:srgbClr val="4B5563"/>
                </a:solidFill>
                <a:latin typeface="Helvetica Neue"/>
                <a:ea typeface="Helvetica Neue"/>
                <a:cs typeface="Helvetica Neue"/>
              </a:rPr>
              <a:t>UK 97%. Example: White pearl beaded heart, small</a:t>
            </a:r>
          </a:p>
          <a:p xmlns:a="http://schemas.openxmlformats.org/drawingml/2006/main">
            <a:pPr algn="l">
              <a:spcAft>
                <a:spcPts val="300"/>
              </a:spcAft>
              <a:defRPr>
                <a:latin typeface="Helvetica Neue"/>
                <a:ea typeface="Helvetica Neue"/>
                <a:cs typeface="Helvetica Neue"/>
              </a:defRPr>
            </a:pPr>
            <a:r>
              <a:rPr sz="1575" b="1">
                <a:solidFill>
                  <a:srgbClr val="1B2A4A"/>
                </a:solidFill>
                <a:latin typeface="Helvetica Neue"/>
                <a:ea typeface="Helvetica Neue"/>
                <a:cs typeface="Helvetica Neue"/>
              </a:rPr>
              <a:t>Smaller regular buyers: children's ranges, party &amp; paper goods</a:t>
            </a:r>
          </a:p>
          <a:p xmlns:a="http://schemas.openxmlformats.org/drawingml/2006/main">
            <a:pPr algn="l">
              <a:spcAft>
                <a:spcPts val="1500"/>
              </a:spcAft>
              <a:defRPr>
                <a:latin typeface="Helvetica Neue"/>
                <a:ea typeface="Helvetica Neue"/>
                <a:cs typeface="Helvetica Neue"/>
              </a:defRPr>
            </a:pPr>
            <a:r>
              <a:rPr sz="1500" b="0">
                <a:solidFill>
                  <a:srgbClr val="4B5563"/>
                </a:solidFill>
                <a:latin typeface="Helvetica Neue"/>
                <a:ea typeface="Helvetica Neue"/>
                <a:cs typeface="Helvetica Neue"/>
              </a:rPr>
              <a:t>UK 86%. Example: Nurse's bag soft toy</a:t>
            </a:r>
          </a:p>
          <a:p xmlns:a="http://schemas.openxmlformats.org/drawingml/2006/main">
            <a:pPr algn="l">
              <a:spcAft>
                <a:spcPts val="300"/>
              </a:spcAft>
              <a:defRPr>
                <a:latin typeface="Helvetica Neue"/>
                <a:ea typeface="Helvetica Neue"/>
                <a:cs typeface="Helvetica Neue"/>
              </a:defRPr>
            </a:pPr>
            <a:r>
              <a:rPr sz="1575" b="1">
                <a:solidFill>
                  <a:srgbClr val="1B2A4A"/>
                </a:solidFill>
                <a:latin typeface="Helvetica Neue"/>
                <a:ea typeface="Helvetica Neue"/>
                <a:cs typeface="Helvetica Neue"/>
              </a:rPr>
              <a:t>Occasional small buyers: mixed gifts</a:t>
            </a:r>
          </a:p>
          <a:p xmlns:a="http://schemas.openxmlformats.org/drawingml/2006/main">
            <a:pPr algn="l">
              <a:spcAft>
                <a:spcPts val="1500"/>
              </a:spcAft>
              <a:defRPr>
                <a:latin typeface="Helvetica Neue"/>
                <a:ea typeface="Helvetica Neue"/>
                <a:cs typeface="Helvetica Neue"/>
              </a:defRPr>
            </a:pPr>
            <a:r>
              <a:rPr sz="1500" b="0">
                <a:solidFill>
                  <a:srgbClr val="4B5563"/>
                </a:solidFill>
                <a:latin typeface="Helvetica Neue"/>
                <a:ea typeface="Helvetica Neue"/>
                <a:cs typeface="Helvetica Neue"/>
              </a:rPr>
              <a:t>UK 98%. Example: Antique silver tea glass engraved</a:t>
            </a:r>
          </a:p>
        </p:txBody>
      </p:sp>
      <p:sp>
        <p:nvSpPr>
          <p:cNvPr id="4" name="source-note">
            <a:extLst xmlns:a="http://schemas.openxmlformats.org/drawingml/2006/main">
              <a:ext uri="{FF2B5EF4-FFF2-40B4-BE49-F238E27FC236}">
                <a16:creationId xmlns:a16="http://schemas.microsoft.com/office/drawing/2014/main" id="{F81153CD-1E03-4642-AB82-9F91C6DF2CAC}"/>
              </a:ext>
            </a:extLst>
          </p:cNvPr>
          <p:cNvSpPr>
            <a:spLocks xmlns:a="http://schemas.openxmlformats.org/drawingml/2006/main" noGrp="1"/>
          </p:cNvSpPr>
          <p:nvPr/>
        </p:nvSpPr>
        <p:spPr>
          <a:xfrm xmlns:a="http://schemas.openxmlformats.org/drawingml/2006/main">
            <a:off x="609600" y="6381750"/>
            <a:ext cx="10972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b">
            <a:noAutofit/>
          </a:bodyPr>
          <a:lstStyle xmlns:a="http://schemas.openxmlformats.org/drawingml/2006/main">
            <a:defPPr algn="l">
              <a:defRPr>
                <a:latin typeface="Helvetica Neue"/>
                <a:ea typeface="Helvetica Neue"/>
                <a:cs typeface="Helvetica Neue"/>
              </a:defRPr>
            </a:defPPr>
          </a:lstStyle>
          <a:p xmlns:a="http://schemas.openxmlformats.org/drawingml/2006/main">
            <a:pPr algn="l">
              <a:spcAft>
                <a:spcPts val="0"/>
              </a:spcAft>
              <a:defRPr>
                <a:latin typeface="Helvetica Neue"/>
                <a:ea typeface="Helvetica Neue"/>
                <a:cs typeface="Helvetica Neue"/>
              </a:defRPr>
            </a:pPr>
            <a:r>
              <a:rPr sz="1050" b="0">
                <a:solidFill>
                  <a:srgbClr val="4B5563"/>
                </a:solidFill>
                <a:latin typeface="Helvetica Neue"/>
                <a:ea typeface="Helvetica Neue"/>
                <a:cs typeface="Helvetica Neue"/>
              </a:rPr>
              <a:t>Source: reports/segments.csv and figures/customer_map.png, training data only. UK = share of the group's customers.</a:t>
            </a:r>
          </a:p>
        </p:txBody>
      </p:sp>
    </p:spTree>
    <p:extLst>
      <p:ext uri="{BB962C8B-B14F-4D97-AF65-F5344CB8AC3E}">
        <p14:creationId xmlns:p14="http://schemas.microsoft.com/office/powerpoint/2010/main" val="189032413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8E3AB10B-8788-4841-81CB-02FA0428C047}"/>
              </a:ext>
            </a:extLst>
          </p:cNvPr>
          <p:cNvSpPr>
            <a:spLocks xmlns:a="http://schemas.openxmlformats.org/drawingml/2006/main" noGrp="1"/>
          </p:cNvSpPr>
          <p:nvPr/>
        </p:nvSpPr>
        <p:spPr>
          <a:xfrm xmlns:a="http://schemas.openxmlformats.org/drawingml/2006/main">
            <a:off x="609600" y="3810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a:latin typeface="Helvetica Neue"/>
                <a:ea typeface="Helvetica Neue"/>
                <a:cs typeface="Helvetica Neue"/>
              </a:defRPr>
            </a:defPPr>
          </a:lstStyle>
          <a:p xmlns:a="http://schemas.openxmlformats.org/drawingml/2006/main">
            <a:pPr algn="l">
              <a:spcAft>
                <a:spcPts val="0"/>
              </a:spcAft>
              <a:defRPr>
                <a:latin typeface="Helvetica Neue"/>
                <a:ea typeface="Helvetica Neue"/>
                <a:cs typeface="Helvetica Neue"/>
              </a:defRPr>
            </a:pPr>
            <a:r>
              <a:rPr sz="3300" b="1">
                <a:solidFill>
                  <a:srgbClr val="1B2A4A"/>
                </a:solidFill>
                <a:latin typeface="Helvetica Neue"/>
                <a:ea typeface="Helvetica Neue"/>
                <a:cs typeface="Helvetica Neue"/>
              </a:rPr>
              <a:t>Pilot and coverage</a:t>
            </a:r>
          </a:p>
        </p:txBody>
      </p:sp>
      <p:sp>
        <p:nvSpPr>
          <p:cNvPr id="2" name="result-heading">
            <a:extLst xmlns:a="http://schemas.openxmlformats.org/drawingml/2006/main">
              <a:ext uri="{FF2B5EF4-FFF2-40B4-BE49-F238E27FC236}">
                <a16:creationId xmlns:a16="http://schemas.microsoft.com/office/drawing/2014/main" id="{C98CA798-6F03-4713-AF40-E7264B3A6112}"/>
              </a:ext>
            </a:extLst>
          </p:cNvPr>
          <p:cNvSpPr>
            <a:spLocks xmlns:a="http://schemas.openxmlformats.org/drawingml/2006/main" noGrp="1"/>
          </p:cNvSpPr>
          <p:nvPr/>
        </p:nvSpPr>
        <p:spPr>
          <a:xfrm xmlns:a="http://schemas.openxmlformats.org/drawingml/2006/main">
            <a:off x="609600" y="1428750"/>
            <a:ext cx="4953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a:latin typeface="Helvetica Neue"/>
                <a:ea typeface="Helvetica Neue"/>
                <a:cs typeface="Helvetica Neue"/>
              </a:defRPr>
            </a:defPPr>
          </a:lstStyle>
          <a:p xmlns:a="http://schemas.openxmlformats.org/drawingml/2006/main">
            <a:pPr algn="l">
              <a:spcAft>
                <a:spcPts val="0"/>
              </a:spcAft>
              <a:defRPr>
                <a:latin typeface="Helvetica Neue"/>
                <a:ea typeface="Helvetica Neue"/>
                <a:cs typeface="Helvetica Neue"/>
              </a:defRPr>
            </a:pPr>
            <a:r>
              <a:rPr sz="1875" b="1">
                <a:solidFill>
                  <a:srgbClr val="0F7C80"/>
                </a:solidFill>
                <a:latin typeface="Helvetica Neue"/>
                <a:ea typeface="Helvetica Neue"/>
                <a:cs typeface="Helvetica Neue"/>
              </a:rPr>
              <a:t>What the test showed</a:t>
            </a:r>
          </a:p>
        </p:txBody>
      </p:sp>
      <p:sp>
        <p:nvSpPr>
          <p:cNvPr id="3" name="result-body">
            <a:extLst xmlns:a="http://schemas.openxmlformats.org/drawingml/2006/main">
              <a:ext uri="{FF2B5EF4-FFF2-40B4-BE49-F238E27FC236}">
                <a16:creationId xmlns:a16="http://schemas.microsoft.com/office/drawing/2014/main" id="{D1C31ECD-2E82-40F9-A9AC-A98A93505EC3}"/>
              </a:ext>
            </a:extLst>
          </p:cNvPr>
          <p:cNvSpPr>
            <a:spLocks xmlns:a="http://schemas.openxmlformats.org/drawingml/2006/main" noGrp="1"/>
          </p:cNvSpPr>
          <p:nvPr/>
        </p:nvSpPr>
        <p:spPr>
          <a:xfrm xmlns:a="http://schemas.openxmlformats.org/drawingml/2006/main">
            <a:off x="609600" y="1962150"/>
            <a:ext cx="4953000" cy="400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a:latin typeface="Helvetica Neue"/>
                <a:ea typeface="Helvetica Neue"/>
                <a:cs typeface="Helvetica Neue"/>
              </a:defRPr>
            </a:defPPr>
          </a:lstStyle>
          <a:p xmlns:a="http://schemas.openxmlformats.org/drawingml/2006/main">
            <a:pPr algn="l">
              <a:spcAft>
                <a:spcPts val="1600"/>
              </a:spcAft>
              <a:defRPr>
                <a:latin typeface="Helvetica Neue"/>
                <a:ea typeface="Helvetica Neue"/>
                <a:cs typeface="Helvetica Neue"/>
              </a:defRPr>
            </a:pPr>
            <a:r>
              <a:rPr sz="1725" b="0">
                <a:solidFill>
                  <a:srgbClr val="1F2937"/>
                </a:solidFill>
                <a:latin typeface="Helvetica Neue"/>
                <a:ea typeface="Helvetica Neue"/>
                <a:cs typeface="Helvetica Neue"/>
              </a:rPr>
              <a:t>SVD top 10: </a:t>
            </a:r>
            <a:r>
              <a:rPr sz="1725" b="1">
                <a:solidFill>
                  <a:srgbClr val="1B2A4A"/>
                </a:solidFill>
                <a:latin typeface="Helvetica Neue"/>
                <a:ea typeface="Helvetica Neue"/>
                <a:cs typeface="Helvetica Neue"/>
              </a:rPr>
              <a:t>23.2%</a:t>
            </a:r>
            <a:r>
              <a:rPr sz="1725" b="0">
                <a:solidFill>
                  <a:srgbClr val="1F2937"/>
                </a:solidFill>
                <a:latin typeface="Helvetica Neue"/>
                <a:ea typeface="Helvetica Neue"/>
                <a:cs typeface="Helvetica Neue"/>
              </a:rPr>
              <a:t> of customers had a hit, against </a:t>
            </a:r>
            <a:r>
              <a:rPr sz="1725" b="1">
                <a:solidFill>
                  <a:srgbClr val="1B2A4A"/>
                </a:solidFill>
                <a:latin typeface="Helvetica Neue"/>
                <a:ea typeface="Helvetica Neue"/>
                <a:cs typeface="Helvetica Neue"/>
              </a:rPr>
              <a:t>17.4%</a:t>
            </a:r>
            <a:r>
              <a:rPr sz="1725" b="0">
                <a:solidFill>
                  <a:srgbClr val="1F2937"/>
                </a:solidFill>
                <a:latin typeface="Helvetica Neue"/>
                <a:ea typeface="Helvetica Neue"/>
                <a:cs typeface="Helvetica Neue"/>
              </a:rPr>
              <a:t> for best sellers</a:t>
            </a:r>
          </a:p>
          <a:p xmlns:a="http://schemas.openxmlformats.org/drawingml/2006/main">
            <a:pPr algn="l">
              <a:spcAft>
                <a:spcPts val="1600"/>
              </a:spcAft>
              <a:defRPr>
                <a:latin typeface="Helvetica Neue"/>
                <a:ea typeface="Helvetica Neue"/>
                <a:cs typeface="Helvetica Neue"/>
              </a:defRPr>
            </a:pPr>
            <a:r>
              <a:rPr sz="1725" b="0">
                <a:solidFill>
                  <a:srgbClr val="1F2937"/>
                </a:solidFill>
                <a:latin typeface="Helvetica Neue"/>
                <a:ea typeface="Helvetica Neue"/>
                <a:cs typeface="Helvetica Neue"/>
              </a:rPr>
              <a:t>From the prepared table, fit and top 10 for all 3,687 products: </a:t>
            </a:r>
            <a:r>
              <a:rPr sz="1725" b="1">
                <a:solidFill>
                  <a:srgbClr val="1B2A4A"/>
                </a:solidFill>
                <a:latin typeface="Helvetica Neue"/>
                <a:ea typeface="Helvetica Neue"/>
                <a:cs typeface="Helvetica Neue"/>
              </a:rPr>
              <a:t>0.707 s</a:t>
            </a:r>
          </a:p>
          <a:p xmlns:a="http://schemas.openxmlformats.org/drawingml/2006/main">
            <a:pPr algn="l">
              <a:spcAft>
                <a:spcPts val="1600"/>
              </a:spcAft>
              <a:defRPr>
                <a:latin typeface="Helvetica Neue"/>
                <a:ea typeface="Helvetica Neue"/>
                <a:cs typeface="Helvetica Neue"/>
              </a:defRPr>
            </a:pPr>
            <a:r>
              <a:rPr sz="1725" b="0">
                <a:solidFill>
                  <a:srgbClr val="1F2937"/>
                </a:solidFill>
                <a:latin typeface="Helvetica Neue"/>
                <a:ea typeface="Helvetica Neue"/>
                <a:cs typeface="Helvetica Neue"/>
              </a:rPr>
              <a:t>Purchase value: raw count 12.9%, 1/0 24.9%, log 23.2%. Log was fixed before testing.</a:t>
            </a:r>
          </a:p>
        </p:txBody>
      </p:sp>
      <p:sp>
        <p:nvSpPr>
          <p:cNvPr id="4" name="next-heading">
            <a:extLst xmlns:a="http://schemas.openxmlformats.org/drawingml/2006/main">
              <a:ext uri="{FF2B5EF4-FFF2-40B4-BE49-F238E27FC236}">
                <a16:creationId xmlns:a16="http://schemas.microsoft.com/office/drawing/2014/main" id="{9699C14B-A269-4BCA-A643-510B7A38B5AA}"/>
              </a:ext>
            </a:extLst>
          </p:cNvPr>
          <p:cNvSpPr>
            <a:spLocks xmlns:a="http://schemas.openxmlformats.org/drawingml/2006/main" noGrp="1"/>
          </p:cNvSpPr>
          <p:nvPr/>
        </p:nvSpPr>
        <p:spPr>
          <a:xfrm xmlns:a="http://schemas.openxmlformats.org/drawingml/2006/main">
            <a:off x="6629400" y="1428750"/>
            <a:ext cx="4953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a:latin typeface="Helvetica Neue"/>
                <a:ea typeface="Helvetica Neue"/>
                <a:cs typeface="Helvetica Neue"/>
              </a:defRPr>
            </a:defPPr>
          </a:lstStyle>
          <a:p xmlns:a="http://schemas.openxmlformats.org/drawingml/2006/main">
            <a:pPr algn="l">
              <a:spcAft>
                <a:spcPts val="0"/>
              </a:spcAft>
              <a:defRPr>
                <a:latin typeface="Helvetica Neue"/>
                <a:ea typeface="Helvetica Neue"/>
                <a:cs typeface="Helvetica Neue"/>
              </a:defRPr>
            </a:pPr>
            <a:r>
              <a:rPr sz="1875" b="1">
                <a:solidFill>
                  <a:srgbClr val="0F7C80"/>
                </a:solidFill>
                <a:latin typeface="Helvetica Neue"/>
                <a:ea typeface="Helvetica Neue"/>
                <a:cs typeface="Helvetica Neue"/>
              </a:rPr>
              <a:t>Next steps</a:t>
            </a:r>
          </a:p>
        </p:txBody>
      </p:sp>
      <p:sp>
        <p:nvSpPr>
          <p:cNvPr id="5" name="next-body">
            <a:extLst xmlns:a="http://schemas.openxmlformats.org/drawingml/2006/main">
              <a:ext uri="{FF2B5EF4-FFF2-40B4-BE49-F238E27FC236}">
                <a16:creationId xmlns:a16="http://schemas.microsoft.com/office/drawing/2014/main" id="{3591433C-5233-41D4-8BBA-4B9587C44D35}"/>
              </a:ext>
            </a:extLst>
          </p:cNvPr>
          <p:cNvSpPr>
            <a:spLocks xmlns:a="http://schemas.openxmlformats.org/drawingml/2006/main" noGrp="1"/>
          </p:cNvSpPr>
          <p:nvPr/>
        </p:nvSpPr>
        <p:spPr>
          <a:xfrm xmlns:a="http://schemas.openxmlformats.org/drawingml/2006/main">
            <a:off x="6629400" y="1962150"/>
            <a:ext cx="4953000" cy="400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a:latin typeface="Helvetica Neue"/>
                <a:ea typeface="Helvetica Neue"/>
                <a:cs typeface="Helvetica Neue"/>
              </a:defRPr>
            </a:defPPr>
          </a:lstStyle>
          <a:p xmlns:a="http://schemas.openxmlformats.org/drawingml/2006/main">
            <a:pPr algn="l">
              <a:spcAft>
                <a:spcPts val="1600"/>
              </a:spcAft>
              <a:defRPr>
                <a:latin typeface="Helvetica Neue"/>
                <a:ea typeface="Helvetica Neue"/>
                <a:cs typeface="Helvetica Neue"/>
              </a:defRPr>
            </a:pPr>
            <a:r>
              <a:rPr sz="1725" b="0">
                <a:solidFill>
                  <a:srgbClr val="1F2937"/>
                </a:solidFill>
                <a:latin typeface="Helvetica Neue"/>
                <a:ea typeface="Helvetica Neue"/>
                <a:cs typeface="Helvetica Neue"/>
              </a:rPr>
              <a:t>A/B pilot on product pages against best sellers</a:t>
            </a:r>
          </a:p>
          <a:p xmlns:a="http://schemas.openxmlformats.org/drawingml/2006/main">
            <a:pPr algn="l">
              <a:spcAft>
                <a:spcPts val="1600"/>
              </a:spcAft>
              <a:defRPr>
                <a:latin typeface="Helvetica Neue"/>
                <a:ea typeface="Helvetica Neue"/>
                <a:cs typeface="Helvetica Neue"/>
              </a:defRPr>
            </a:pPr>
            <a:r>
              <a:rPr sz="1725" b="0">
                <a:solidFill>
                  <a:srgbClr val="1F2937"/>
                </a:solidFill>
                <a:latin typeface="Helvetica Neue"/>
                <a:ea typeface="Helvetica Neue"/>
                <a:cs typeface="Helvetica Neue"/>
              </a:rPr>
              <a:t>Best sellers for new products and those with under 10 buyers</a:t>
            </a:r>
          </a:p>
          <a:p xmlns:a="http://schemas.openxmlformats.org/drawingml/2006/main">
            <a:pPr algn="l">
              <a:spcAft>
                <a:spcPts val="1600"/>
              </a:spcAft>
              <a:defRPr>
                <a:latin typeface="Helvetica Neue"/>
                <a:ea typeface="Helvetica Neue"/>
                <a:cs typeface="Helvetica Neue"/>
              </a:defRPr>
            </a:pPr>
            <a:r>
              <a:rPr sz="1725" b="0">
                <a:solidFill>
                  <a:srgbClr val="1F2937"/>
                </a:solidFill>
                <a:latin typeface="Helvetica Neue"/>
                <a:ea typeface="Helvetica Neue"/>
                <a:cs typeface="Helvetica Neue"/>
              </a:rPr>
              <a:t>Personalised lists only for customers with history</a:t>
            </a:r>
          </a:p>
          <a:p xmlns:a="http://schemas.openxmlformats.org/drawingml/2006/main">
            <a:pPr algn="l">
              <a:spcAft>
                <a:spcPts val="1600"/>
              </a:spcAft>
              <a:defRPr>
                <a:latin typeface="Helvetica Neue"/>
                <a:ea typeface="Helvetica Neue"/>
                <a:cs typeface="Helvetica Neue"/>
              </a:defRPr>
            </a:pPr>
            <a:r>
              <a:rPr sz="1725" b="0">
                <a:solidFill>
                  <a:srgbClr val="1F2937"/>
                </a:solidFill>
                <a:latin typeface="Helvetica Neue"/>
                <a:ea typeface="Helvetica Neue"/>
                <a:cs typeface="Helvetica Neue"/>
              </a:rPr>
              <a:t>Marketing checks the group names before campaigns</a:t>
            </a:r>
          </a:p>
          <a:p xmlns:a="http://schemas.openxmlformats.org/drawingml/2006/main">
            <a:pPr algn="l">
              <a:spcAft>
                <a:spcPts val="1600"/>
              </a:spcAft>
              <a:defRPr>
                <a:latin typeface="Helvetica Neue"/>
                <a:ea typeface="Helvetica Neue"/>
                <a:cs typeface="Helvetica Neue"/>
              </a:defRPr>
            </a:pPr>
            <a:r>
              <a:rPr sz="1725" b="0">
                <a:solidFill>
                  <a:srgbClr val="1F2937"/>
                </a:solidFill>
                <a:latin typeface="Helvetica Neue"/>
                <a:ea typeface="Helvetica Neue"/>
                <a:cs typeface="Helvetica Neue"/>
              </a:rPr>
              <a:t>Track coverage: </a:t>
            </a:r>
            <a:r>
              <a:rPr sz="1725" b="1">
                <a:solidFill>
                  <a:srgbClr val="1B2A4A"/>
                </a:solidFill>
                <a:latin typeface="Helvetica Neue"/>
                <a:ea typeface="Helvetica Neue"/>
                <a:cs typeface="Helvetica Neue"/>
              </a:rPr>
              <a:t>70.7%</a:t>
            </a:r>
            <a:r>
              <a:rPr sz="1725" b="0">
                <a:solidFill>
                  <a:srgbClr val="1F2937"/>
                </a:solidFill>
                <a:latin typeface="Helvetica Neue"/>
                <a:ea typeface="Helvetica Neue"/>
                <a:cs typeface="Helvetica Neue"/>
              </a:rPr>
              <a:t> of new customer-product pairs scored</a:t>
            </a:r>
          </a:p>
        </p:txBody>
      </p:sp>
      <p:sp>
        <p:nvSpPr>
          <p:cNvPr id="6" name="source-note">
            <a:extLst xmlns:a="http://schemas.openxmlformats.org/drawingml/2006/main">
              <a:ext uri="{FF2B5EF4-FFF2-40B4-BE49-F238E27FC236}">
                <a16:creationId xmlns:a16="http://schemas.microsoft.com/office/drawing/2014/main" id="{285D6EAB-0F70-4911-BB99-2175BAA8F41F}"/>
              </a:ext>
            </a:extLst>
          </p:cNvPr>
          <p:cNvSpPr>
            <a:spLocks xmlns:a="http://schemas.openxmlformats.org/drawingml/2006/main" noGrp="1"/>
          </p:cNvSpPr>
          <p:nvPr/>
        </p:nvSpPr>
        <p:spPr>
          <a:xfrm xmlns:a="http://schemas.openxmlformats.org/drawingml/2006/main">
            <a:off x="609600" y="6381750"/>
            <a:ext cx="10972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b">
            <a:noAutofit/>
          </a:bodyPr>
          <a:lstStyle xmlns:a="http://schemas.openxmlformats.org/drawingml/2006/main">
            <a:defPPr algn="l">
              <a:defRPr>
                <a:latin typeface="Helvetica Neue"/>
                <a:ea typeface="Helvetica Neue"/>
                <a:cs typeface="Helvetica Neue"/>
              </a:defRPr>
            </a:defPPr>
          </a:lstStyle>
          <a:p xmlns:a="http://schemas.openxmlformats.org/drawingml/2006/main">
            <a:pPr algn="l">
              <a:spcAft>
                <a:spcPts val="0"/>
              </a:spcAft>
              <a:defRPr>
                <a:latin typeface="Helvetica Neue"/>
                <a:ea typeface="Helvetica Neue"/>
                <a:cs typeface="Helvetica Neue"/>
              </a:defRPr>
            </a:pPr>
            <a:r>
              <a:rPr sz="1050" b="0">
                <a:solidFill>
                  <a:srgbClr val="4B5563"/>
                </a:solidFill>
                <a:latin typeface="Helvetica Neue"/>
                <a:ea typeface="Helvetica Neue"/>
                <a:cs typeface="Helvetica Neue"/>
              </a:rPr>
              <a:t>Source: reports/results.json, reports/sensitivity.csv. Times measured on an Apple M4 Mac (10 logical CPUs). An offline hit rate does not prove extra sales.</a:t>
            </a:r>
          </a:p>
        </p:txBody>
      </p:sp>
    </p:spTree>
    <p:extLst>
      <p:ext uri="{BB962C8B-B14F-4D97-AF65-F5344CB8AC3E}">
        <p14:creationId xmlns:p14="http://schemas.microsoft.com/office/powerpoint/2010/main" val="194320270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2026-10-13T02:23:45.2660000Z</dcterms:created>
  <dcterms:modified xsi:type="dcterms:W3CDTF">2026-10-13T02:23:45.2660000Z</dcterms:modified>
</coreProperties>
</file>